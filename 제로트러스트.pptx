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3" r:id="rId4"/>
  </p:sldMasterIdLst>
  <p:notesMasterIdLst>
    <p:notesMasterId r:id="rId36"/>
  </p:notesMasterIdLst>
  <p:handoutMasterIdLst>
    <p:handoutMasterId r:id="rId37"/>
  </p:handoutMasterIdLst>
  <p:sldIdLst>
    <p:sldId id="256" r:id="rId5"/>
    <p:sldId id="336" r:id="rId6"/>
    <p:sldId id="343" r:id="rId7"/>
    <p:sldId id="344" r:id="rId8"/>
    <p:sldId id="347" r:id="rId9"/>
    <p:sldId id="345" r:id="rId10"/>
    <p:sldId id="346" r:id="rId11"/>
    <p:sldId id="348" r:id="rId12"/>
    <p:sldId id="365" r:id="rId13"/>
    <p:sldId id="265" r:id="rId14"/>
    <p:sldId id="266" r:id="rId15"/>
    <p:sldId id="366" r:id="rId16"/>
    <p:sldId id="367" r:id="rId17"/>
    <p:sldId id="368" r:id="rId18"/>
    <p:sldId id="350" r:id="rId19"/>
    <p:sldId id="351" r:id="rId20"/>
    <p:sldId id="353" r:id="rId21"/>
    <p:sldId id="354" r:id="rId22"/>
    <p:sldId id="352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9" r:id="rId34"/>
    <p:sldId id="370" r:id="rId35"/>
  </p:sldIdLst>
  <p:sldSz cx="12192000" cy="6858000"/>
  <p:notesSz cx="6858000" cy="9144000"/>
  <p:defaultTextStyle>
    <a:defPPr rtl="0">
      <a:defRPr lang="ko-k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11333-C0B5-4725-8473-ABA895261DD0}" v="1" dt="2025-05-29T03:11:14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19" autoAdjust="0"/>
    <p:restoredTop sz="95673"/>
  </p:normalViewPr>
  <p:slideViewPr>
    <p:cSldViewPr snapToGrid="0" snapToObjects="1">
      <p:cViewPr varScale="1">
        <p:scale>
          <a:sx n="78" d="100"/>
          <a:sy n="78" d="100"/>
        </p:scale>
        <p:origin x="2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예린 마" userId="019c246c5692c4ad" providerId="LiveId" clId="{90B11333-C0B5-4725-8473-ABA895261DD0}"/>
    <pc:docChg chg="custSel modSld">
      <pc:chgData name="예린 마" userId="019c246c5692c4ad" providerId="LiveId" clId="{90B11333-C0B5-4725-8473-ABA895261DD0}" dt="2025-05-29T03:11:14.569" v="2"/>
      <pc:docMkLst>
        <pc:docMk/>
      </pc:docMkLst>
      <pc:sldChg chg="modSp mod">
        <pc:chgData name="예린 마" userId="019c246c5692c4ad" providerId="LiveId" clId="{90B11333-C0B5-4725-8473-ABA895261DD0}" dt="2025-05-04T02:44:29.094" v="1" actId="27636"/>
        <pc:sldMkLst>
          <pc:docMk/>
          <pc:sldMk cId="2259308896" sldId="256"/>
        </pc:sldMkLst>
        <pc:spChg chg="mod">
          <ac:chgData name="예린 마" userId="019c246c5692c4ad" providerId="LiveId" clId="{90B11333-C0B5-4725-8473-ABA895261DD0}" dt="2025-05-04T02:44:29.094" v="1" actId="27636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예린 마" userId="019c246c5692c4ad" providerId="LiveId" clId="{90B11333-C0B5-4725-8473-ABA895261DD0}" dt="2025-05-29T03:11:14.569" v="2"/>
        <pc:sldMkLst>
          <pc:docMk/>
          <pc:sldMk cId="2563119616" sldId="265"/>
        </pc:sldMkLst>
        <pc:spChg chg="mod">
          <ac:chgData name="예린 마" userId="019c246c5692c4ad" providerId="LiveId" clId="{90B11333-C0B5-4725-8473-ABA895261DD0}" dt="2025-05-29T03:11:14.569" v="2"/>
          <ac:spMkLst>
            <pc:docMk/>
            <pc:sldMk cId="2563119616" sldId="265"/>
            <ac:spMk id="12" creationId="{A8FE8FAB-36BA-2F64-339B-8895B33A2DAB}"/>
          </ac:spMkLst>
        </pc:spChg>
      </pc:sldChg>
      <pc:sldChg chg="modSp">
        <pc:chgData name="예린 마" userId="019c246c5692c4ad" providerId="LiveId" clId="{90B11333-C0B5-4725-8473-ABA895261DD0}" dt="2025-05-29T03:11:14.569" v="2"/>
        <pc:sldMkLst>
          <pc:docMk/>
          <pc:sldMk cId="0" sldId="343"/>
        </pc:sldMkLst>
        <pc:spChg chg="mod">
          <ac:chgData name="예린 마" userId="019c246c5692c4ad" providerId="LiveId" clId="{90B11333-C0B5-4725-8473-ABA895261DD0}" dt="2025-05-29T03:11:14.569" v="2"/>
          <ac:spMkLst>
            <pc:docMk/>
            <pc:sldMk cId="0" sldId="343"/>
            <ac:spMk id="5" creationId="{00000000-0000-0000-0000-000000000000}"/>
          </ac:spMkLst>
        </pc:spChg>
      </pc:sldChg>
      <pc:sldChg chg="modSp">
        <pc:chgData name="예린 마" userId="019c246c5692c4ad" providerId="LiveId" clId="{90B11333-C0B5-4725-8473-ABA895261DD0}" dt="2025-05-29T03:11:14.569" v="2"/>
        <pc:sldMkLst>
          <pc:docMk/>
          <pc:sldMk cId="0" sldId="344"/>
        </pc:sldMkLst>
        <pc:spChg chg="mod">
          <ac:chgData name="예린 마" userId="019c246c5692c4ad" providerId="LiveId" clId="{90B11333-C0B5-4725-8473-ABA895261DD0}" dt="2025-05-29T03:11:14.569" v="2"/>
          <ac:spMkLst>
            <pc:docMk/>
            <pc:sldMk cId="0" sldId="344"/>
            <ac:spMk id="5" creationId="{00000000-0000-0000-0000-000000000000}"/>
          </ac:spMkLst>
        </pc:spChg>
      </pc:sldChg>
      <pc:sldChg chg="modSp modNotes">
        <pc:chgData name="예린 마" userId="019c246c5692c4ad" providerId="LiveId" clId="{90B11333-C0B5-4725-8473-ABA895261DD0}" dt="2025-05-29T03:11:14.569" v="2"/>
        <pc:sldMkLst>
          <pc:docMk/>
          <pc:sldMk cId="0" sldId="345"/>
        </pc:sldMkLst>
        <pc:spChg chg="mod">
          <ac:chgData name="예린 마" userId="019c246c5692c4ad" providerId="LiveId" clId="{90B11333-C0B5-4725-8473-ABA895261DD0}" dt="2025-05-29T03:11:14.569" v="2"/>
          <ac:spMkLst>
            <pc:docMk/>
            <pc:sldMk cId="0" sldId="345"/>
            <ac:spMk id="5" creationId="{00000000-0000-0000-0000-000000000000}"/>
          </ac:spMkLst>
        </pc:spChg>
      </pc:sldChg>
      <pc:sldChg chg="modSp">
        <pc:chgData name="예린 마" userId="019c246c5692c4ad" providerId="LiveId" clId="{90B11333-C0B5-4725-8473-ABA895261DD0}" dt="2025-05-29T03:11:14.569" v="2"/>
        <pc:sldMkLst>
          <pc:docMk/>
          <pc:sldMk cId="0" sldId="346"/>
        </pc:sldMkLst>
        <pc:spChg chg="mod">
          <ac:chgData name="예린 마" userId="019c246c5692c4ad" providerId="LiveId" clId="{90B11333-C0B5-4725-8473-ABA895261DD0}" dt="2025-05-29T03:11:14.569" v="2"/>
          <ac:spMkLst>
            <pc:docMk/>
            <pc:sldMk cId="0" sldId="346"/>
            <ac:spMk id="5" creationId="{00000000-0000-0000-0000-000000000000}"/>
          </ac:spMkLst>
        </pc:spChg>
      </pc:sldChg>
      <pc:sldChg chg="modSp">
        <pc:chgData name="예린 마" userId="019c246c5692c4ad" providerId="LiveId" clId="{90B11333-C0B5-4725-8473-ABA895261DD0}" dt="2025-05-29T03:11:14.569" v="2"/>
        <pc:sldMkLst>
          <pc:docMk/>
          <pc:sldMk cId="2552875347" sldId="365"/>
        </pc:sldMkLst>
        <pc:spChg chg="mod">
          <ac:chgData name="예린 마" userId="019c246c5692c4ad" providerId="LiveId" clId="{90B11333-C0B5-4725-8473-ABA895261DD0}" dt="2025-05-29T03:11:14.569" v="2"/>
          <ac:spMkLst>
            <pc:docMk/>
            <pc:sldMk cId="2552875347" sldId="365"/>
            <ac:spMk id="2" creationId="{4109AB97-7EFF-4EF3-8BB9-484C7119FFB3}"/>
          </ac:spMkLst>
        </pc:spChg>
      </pc:sldChg>
      <pc:sldChg chg="modSp">
        <pc:chgData name="예린 마" userId="019c246c5692c4ad" providerId="LiveId" clId="{90B11333-C0B5-4725-8473-ABA895261DD0}" dt="2025-05-29T03:11:14.569" v="2"/>
        <pc:sldMkLst>
          <pc:docMk/>
          <pc:sldMk cId="1428029049" sldId="366"/>
        </pc:sldMkLst>
        <pc:spChg chg="mod">
          <ac:chgData name="예린 마" userId="019c246c5692c4ad" providerId="LiveId" clId="{90B11333-C0B5-4725-8473-ABA895261DD0}" dt="2025-05-29T03:11:14.569" v="2"/>
          <ac:spMkLst>
            <pc:docMk/>
            <pc:sldMk cId="1428029049" sldId="366"/>
            <ac:spMk id="2" creationId="{703B5C52-125C-5F92-004A-64DF89AE554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3D50EE-682F-4B9D-9EA8-43A1D25E32E5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0A4E0AA-0720-460D-9BA6-526F1AE0F00C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latinLnBrk="1"/>
          <a:r>
            <a:rPr lang="ko-KR" altLang="en-US" sz="1500" b="0" dirty="0" err="1"/>
            <a:t>제로트러스트가</a:t>
          </a:r>
          <a:r>
            <a:rPr lang="ko-KR" altLang="en-US" sz="1500" b="0" dirty="0"/>
            <a:t> 국내에서는 아직 초기 단계</a:t>
          </a:r>
          <a:endParaRPr lang="en-US" altLang="ko-KR" sz="1500" b="0" dirty="0"/>
        </a:p>
        <a:p>
          <a:pPr latinLnBrk="1"/>
          <a:r>
            <a:rPr lang="ko-KR" altLang="en-US" sz="1500" b="0" dirty="0"/>
            <a:t>▶</a:t>
          </a:r>
          <a:r>
            <a:rPr lang="ko-KR" sz="1500" b="0" dirty="0"/>
            <a:t>관련 법령</a:t>
          </a:r>
          <a:r>
            <a:rPr lang="en-US" sz="1500" b="0" dirty="0"/>
            <a:t> </a:t>
          </a:r>
          <a:r>
            <a:rPr lang="ko-KR" sz="1500" b="0" dirty="0"/>
            <a:t>개정 이전에 학계</a:t>
          </a:r>
          <a:r>
            <a:rPr lang="en-US" sz="1500" b="0" dirty="0"/>
            <a:t>, </a:t>
          </a:r>
          <a:r>
            <a:rPr lang="ko-KR" sz="1500" b="0" dirty="0"/>
            <a:t>전문가</a:t>
          </a:r>
          <a:r>
            <a:rPr lang="en-US" sz="1500" b="0" dirty="0"/>
            <a:t>, </a:t>
          </a:r>
          <a:r>
            <a:rPr lang="ko-KR" sz="1500" b="0" dirty="0"/>
            <a:t>정책</a:t>
          </a:r>
          <a:r>
            <a:rPr lang="en-US" altLang="ko-KR" sz="1500" b="0" dirty="0"/>
            <a:t>     </a:t>
          </a:r>
          <a:r>
            <a:rPr lang="ko-KR" sz="1500" b="0" dirty="0"/>
            <a:t>입안자 간의 충분한 논의와</a:t>
          </a:r>
          <a:r>
            <a:rPr lang="en-US" altLang="ko-KR" sz="1500" b="0" dirty="0"/>
            <a:t> </a:t>
          </a:r>
          <a:r>
            <a:rPr lang="ko-KR" sz="1500" b="0" dirty="0"/>
            <a:t>의견 수렴</a:t>
          </a:r>
          <a:r>
            <a:rPr lang="en-US" altLang="ko-KR" sz="1500" b="0" dirty="0"/>
            <a:t> </a:t>
          </a:r>
          <a:r>
            <a:rPr lang="ko-KR" sz="1500" b="0" dirty="0"/>
            <a:t>절차를 선행</a:t>
          </a:r>
          <a:endParaRPr lang="en-US" altLang="ko-KR" sz="1500" b="0" dirty="0"/>
        </a:p>
      </dgm:t>
    </dgm:pt>
    <dgm:pt modelId="{FC517C80-92B8-4C4E-A444-C347452CA683}" type="parTrans" cxnId="{8A965531-11ED-4539-AA98-C83DFDBD7BED}">
      <dgm:prSet/>
      <dgm:spPr/>
      <dgm:t>
        <a:bodyPr/>
        <a:lstStyle/>
        <a:p>
          <a:pPr latinLnBrk="1"/>
          <a:endParaRPr lang="ko-KR" altLang="en-US" sz="1500" b="0"/>
        </a:p>
      </dgm:t>
    </dgm:pt>
    <dgm:pt modelId="{15D27884-9EA0-46E1-B0EC-A22CA482B740}" type="sibTrans" cxnId="{8A965531-11ED-4539-AA98-C83DFDBD7BED}">
      <dgm:prSet/>
      <dgm:spPr/>
      <dgm:t>
        <a:bodyPr/>
        <a:lstStyle/>
        <a:p>
          <a:pPr latinLnBrk="1"/>
          <a:endParaRPr lang="ko-KR" altLang="en-US" sz="1500" b="0"/>
        </a:p>
      </dgm:t>
    </dgm:pt>
    <dgm:pt modelId="{47070D82-E60B-4E37-B318-89A17B77CA4E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latinLnBrk="1"/>
          <a:r>
            <a:rPr lang="ko-KR" altLang="ko-KR" sz="1500" b="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공공 부문부터 </a:t>
          </a:r>
          <a:r>
            <a:rPr lang="ko-KR" altLang="ko-KR" sz="1500" b="0" dirty="0" err="1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제로트러스트</a:t>
          </a:r>
          <a:r>
            <a:rPr lang="ko-KR" altLang="ko-KR" sz="1500" b="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도입을 </a:t>
          </a:r>
          <a:r>
            <a:rPr lang="en-US" altLang="ko-KR" sz="1500" b="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           </a:t>
          </a:r>
          <a:r>
            <a:rPr lang="ko-KR" altLang="ko-KR" sz="1500" b="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단계적으로 의무화</a:t>
          </a:r>
          <a:r>
            <a:rPr lang="en-US" altLang="ko-KR" sz="1500" b="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                                            </a:t>
          </a:r>
          <a:r>
            <a:rPr lang="ko-KR" altLang="ko-KR" sz="1500" b="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민간 부문에는 인증제도 및 인센티브 제도를 통해 자발적 도입을 유도하는 혼합형 정책 </a:t>
          </a:r>
          <a:r>
            <a:rPr lang="en-US" altLang="ko-KR" sz="1500" b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   </a:t>
          </a:r>
          <a:r>
            <a:rPr lang="ko-KR" altLang="ko-KR" sz="1500" b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전략을 </a:t>
          </a:r>
          <a:r>
            <a:rPr lang="ko-KR" altLang="ko-KR" sz="1500" b="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수립</a:t>
          </a:r>
          <a:endParaRPr lang="ko-KR" sz="1500" b="0" dirty="0"/>
        </a:p>
      </dgm:t>
    </dgm:pt>
    <dgm:pt modelId="{FD46AA3C-EE96-4A67-8006-63B4EC9DF614}" type="parTrans" cxnId="{559C98BD-6AD1-465E-8549-91AF6080171E}">
      <dgm:prSet/>
      <dgm:spPr/>
      <dgm:t>
        <a:bodyPr/>
        <a:lstStyle/>
        <a:p>
          <a:pPr latinLnBrk="1"/>
          <a:endParaRPr lang="ko-KR" altLang="en-US" sz="1500" b="0"/>
        </a:p>
      </dgm:t>
    </dgm:pt>
    <dgm:pt modelId="{8E6438B6-317E-4FEF-BF6A-90E14088B4D9}" type="sibTrans" cxnId="{559C98BD-6AD1-465E-8549-91AF6080171E}">
      <dgm:prSet/>
      <dgm:spPr/>
      <dgm:t>
        <a:bodyPr/>
        <a:lstStyle/>
        <a:p>
          <a:pPr latinLnBrk="1"/>
          <a:endParaRPr lang="ko-KR" altLang="en-US" sz="1500" b="0"/>
        </a:p>
      </dgm:t>
    </dgm:pt>
    <dgm:pt modelId="{857C9FCA-7D23-416C-8401-5BD85138229B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latinLnBrk="1"/>
          <a:r>
            <a:rPr lang="ko-KR" sz="1500" b="0" dirty="0"/>
            <a:t>법제화 추진 시</a:t>
          </a:r>
          <a:r>
            <a:rPr lang="en-US" sz="1500" b="0" dirty="0"/>
            <a:t>,                                                       </a:t>
          </a:r>
          <a:r>
            <a:rPr lang="ko-KR" sz="1500" b="0" dirty="0"/>
            <a:t>기술 중립성과 환경 맞춤형 적용 가능성을 </a:t>
          </a:r>
          <a:r>
            <a:rPr lang="en-US" altLang="ko-KR" sz="1500" b="0" dirty="0"/>
            <a:t>       </a:t>
          </a:r>
          <a:r>
            <a:rPr lang="ko-KR" sz="1500" b="0" dirty="0"/>
            <a:t>고려하여 유연한 도입 기준과 선택적 실행 </a:t>
          </a:r>
          <a:r>
            <a:rPr lang="en-US" altLang="ko-KR" sz="1500" b="0" dirty="0"/>
            <a:t>       </a:t>
          </a:r>
          <a:r>
            <a:rPr lang="ko-KR" sz="1500" b="0" dirty="0"/>
            <a:t>옵션을 제공해야 한다</a:t>
          </a:r>
          <a:r>
            <a:rPr lang="en-US" sz="1500" b="0" dirty="0"/>
            <a:t>.</a:t>
          </a:r>
          <a:endParaRPr lang="ko-KR" sz="1500" b="0" dirty="0"/>
        </a:p>
      </dgm:t>
    </dgm:pt>
    <dgm:pt modelId="{98FCF552-32E2-4069-9367-A3C542145B89}" type="parTrans" cxnId="{F6435F5D-75FF-4305-B67F-40781F2D1444}">
      <dgm:prSet/>
      <dgm:spPr/>
      <dgm:t>
        <a:bodyPr/>
        <a:lstStyle/>
        <a:p>
          <a:pPr latinLnBrk="1"/>
          <a:endParaRPr lang="ko-KR" altLang="en-US" sz="1500" b="0"/>
        </a:p>
      </dgm:t>
    </dgm:pt>
    <dgm:pt modelId="{70F30621-6561-4ABB-A856-FFD61667AE10}" type="sibTrans" cxnId="{F6435F5D-75FF-4305-B67F-40781F2D1444}">
      <dgm:prSet/>
      <dgm:spPr/>
      <dgm:t>
        <a:bodyPr/>
        <a:lstStyle/>
        <a:p>
          <a:pPr latinLnBrk="1"/>
          <a:endParaRPr lang="ko-KR" altLang="en-US" sz="1500" b="0"/>
        </a:p>
      </dgm:t>
    </dgm:pt>
    <dgm:pt modelId="{E0AF2D9A-8277-492D-9A94-5141FF18BF72}" type="pres">
      <dgm:prSet presAssocID="{F73D50EE-682F-4B9D-9EA8-43A1D25E32E5}" presName="Name0" presStyleCnt="0">
        <dgm:presLayoutVars>
          <dgm:dir/>
          <dgm:resizeHandles val="exact"/>
        </dgm:presLayoutVars>
      </dgm:prSet>
      <dgm:spPr/>
    </dgm:pt>
    <dgm:pt modelId="{A64E572A-BC98-4D16-A29B-DF3F7DD0AAC8}" type="pres">
      <dgm:prSet presAssocID="{40A4E0AA-0720-460D-9BA6-526F1AE0F00C}" presName="composite" presStyleCnt="0"/>
      <dgm:spPr/>
    </dgm:pt>
    <dgm:pt modelId="{170528CF-9041-4550-B118-5EFF458CD0E4}" type="pres">
      <dgm:prSet presAssocID="{40A4E0AA-0720-460D-9BA6-526F1AE0F00C}" presName="rect1" presStyleLbl="trAlignAcc1" presStyleIdx="0" presStyleCnt="3" custLinFactNeighborX="-190" custLinFactNeighborY="-2373">
        <dgm:presLayoutVars>
          <dgm:bulletEnabled val="1"/>
        </dgm:presLayoutVars>
      </dgm:prSet>
      <dgm:spPr/>
    </dgm:pt>
    <dgm:pt modelId="{E24E6BD6-7DF6-40CA-A4AF-226349810C40}" type="pres">
      <dgm:prSet presAssocID="{40A4E0AA-0720-460D-9BA6-526F1AE0F00C}" presName="rect2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</dgm:spPr>
    </dgm:pt>
    <dgm:pt modelId="{13DD24A8-6D02-4152-AAD6-F40D75988398}" type="pres">
      <dgm:prSet presAssocID="{15D27884-9EA0-46E1-B0EC-A22CA482B740}" presName="sibTrans" presStyleCnt="0"/>
      <dgm:spPr/>
    </dgm:pt>
    <dgm:pt modelId="{7F274DF8-64A7-40D3-8B9A-B45B29EF2983}" type="pres">
      <dgm:prSet presAssocID="{47070D82-E60B-4E37-B318-89A17B77CA4E}" presName="composite" presStyleCnt="0"/>
      <dgm:spPr/>
    </dgm:pt>
    <dgm:pt modelId="{3D06DB7D-9BAD-4606-AD31-99296AF1591A}" type="pres">
      <dgm:prSet presAssocID="{47070D82-E60B-4E37-B318-89A17B77CA4E}" presName="rect1" presStyleLbl="trAlignAcc1" presStyleIdx="1" presStyleCnt="3">
        <dgm:presLayoutVars>
          <dgm:bulletEnabled val="1"/>
        </dgm:presLayoutVars>
      </dgm:prSet>
      <dgm:spPr/>
    </dgm:pt>
    <dgm:pt modelId="{E8E6005B-CA99-4F8A-972C-8F21B6FACBAB}" type="pres">
      <dgm:prSet presAssocID="{47070D82-E60B-4E37-B318-89A17B77CA4E}" presName="rect2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</dgm:spPr>
      <dgm:extLst>
        <a:ext uri="{E40237B7-FDA0-4F09-8148-C483321AD2D9}">
          <dgm14:cNvPr xmlns:dgm14="http://schemas.microsoft.com/office/drawing/2010/diagram" id="0" name="" descr="ATOM 단색으로 채워진"/>
        </a:ext>
      </dgm:extLst>
    </dgm:pt>
    <dgm:pt modelId="{87984583-B4CE-4B00-9652-BBDECC2E57DE}" type="pres">
      <dgm:prSet presAssocID="{8E6438B6-317E-4FEF-BF6A-90E14088B4D9}" presName="sibTrans" presStyleCnt="0"/>
      <dgm:spPr/>
    </dgm:pt>
    <dgm:pt modelId="{134BD124-24E1-42B3-83A1-E8EAE2187456}" type="pres">
      <dgm:prSet presAssocID="{857C9FCA-7D23-416C-8401-5BD85138229B}" presName="composite" presStyleCnt="0"/>
      <dgm:spPr/>
    </dgm:pt>
    <dgm:pt modelId="{60D70C72-4A49-43A0-A6D7-B758D46A9CD9}" type="pres">
      <dgm:prSet presAssocID="{857C9FCA-7D23-416C-8401-5BD85138229B}" presName="rect1" presStyleLbl="trAlignAcc1" presStyleIdx="2" presStyleCnt="3">
        <dgm:presLayoutVars>
          <dgm:bulletEnabled val="1"/>
        </dgm:presLayoutVars>
      </dgm:prSet>
      <dgm:spPr/>
    </dgm:pt>
    <dgm:pt modelId="{0E236C4D-AAEA-4F35-8AD7-1A49234F6897}" type="pres">
      <dgm:prSet presAssocID="{857C9FCA-7D23-416C-8401-5BD85138229B}" presName="rect2" presStyleLbl="fgImgPlace1" presStyleIdx="2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</dgm:spPr>
      <dgm:extLst>
        <a:ext uri="{E40237B7-FDA0-4F09-8148-C483321AD2D9}">
          <dgm14:cNvPr xmlns:dgm14="http://schemas.microsoft.com/office/drawing/2010/diagram" id="0" name="" descr="ATOM 단색으로 채워진"/>
        </a:ext>
      </dgm:extLst>
    </dgm:pt>
  </dgm:ptLst>
  <dgm:cxnLst>
    <dgm:cxn modelId="{23D69F19-5826-4F59-87DE-E19AAF51E950}" type="presOf" srcId="{40A4E0AA-0720-460D-9BA6-526F1AE0F00C}" destId="{170528CF-9041-4550-B118-5EFF458CD0E4}" srcOrd="0" destOrd="0" presId="urn:microsoft.com/office/officeart/2008/layout/PictureStrips"/>
    <dgm:cxn modelId="{8A965531-11ED-4539-AA98-C83DFDBD7BED}" srcId="{F73D50EE-682F-4B9D-9EA8-43A1D25E32E5}" destId="{40A4E0AA-0720-460D-9BA6-526F1AE0F00C}" srcOrd="0" destOrd="0" parTransId="{FC517C80-92B8-4C4E-A444-C347452CA683}" sibTransId="{15D27884-9EA0-46E1-B0EC-A22CA482B740}"/>
    <dgm:cxn modelId="{F6435F5D-75FF-4305-B67F-40781F2D1444}" srcId="{F73D50EE-682F-4B9D-9EA8-43A1D25E32E5}" destId="{857C9FCA-7D23-416C-8401-5BD85138229B}" srcOrd="2" destOrd="0" parTransId="{98FCF552-32E2-4069-9367-A3C542145B89}" sibTransId="{70F30621-6561-4ABB-A856-FFD61667AE10}"/>
    <dgm:cxn modelId="{3495407E-6EA3-4725-A430-23AA6F77A74C}" type="presOf" srcId="{47070D82-E60B-4E37-B318-89A17B77CA4E}" destId="{3D06DB7D-9BAD-4606-AD31-99296AF1591A}" srcOrd="0" destOrd="0" presId="urn:microsoft.com/office/officeart/2008/layout/PictureStrips"/>
    <dgm:cxn modelId="{559C98BD-6AD1-465E-8549-91AF6080171E}" srcId="{F73D50EE-682F-4B9D-9EA8-43A1D25E32E5}" destId="{47070D82-E60B-4E37-B318-89A17B77CA4E}" srcOrd="1" destOrd="0" parTransId="{FD46AA3C-EE96-4A67-8006-63B4EC9DF614}" sibTransId="{8E6438B6-317E-4FEF-BF6A-90E14088B4D9}"/>
    <dgm:cxn modelId="{75466CCE-BF40-492E-ACF8-6B4196D4D7DD}" type="presOf" srcId="{F73D50EE-682F-4B9D-9EA8-43A1D25E32E5}" destId="{E0AF2D9A-8277-492D-9A94-5141FF18BF72}" srcOrd="0" destOrd="0" presId="urn:microsoft.com/office/officeart/2008/layout/PictureStrips"/>
    <dgm:cxn modelId="{F6C475FD-BBA7-428A-A436-AD65C87C3681}" type="presOf" srcId="{857C9FCA-7D23-416C-8401-5BD85138229B}" destId="{60D70C72-4A49-43A0-A6D7-B758D46A9CD9}" srcOrd="0" destOrd="0" presId="urn:microsoft.com/office/officeart/2008/layout/PictureStrips"/>
    <dgm:cxn modelId="{558C37DF-477F-446F-997B-DD5282124A1A}" type="presParOf" srcId="{E0AF2D9A-8277-492D-9A94-5141FF18BF72}" destId="{A64E572A-BC98-4D16-A29B-DF3F7DD0AAC8}" srcOrd="0" destOrd="0" presId="urn:microsoft.com/office/officeart/2008/layout/PictureStrips"/>
    <dgm:cxn modelId="{F9427003-1EF1-41A2-8F36-A1F214F66E72}" type="presParOf" srcId="{A64E572A-BC98-4D16-A29B-DF3F7DD0AAC8}" destId="{170528CF-9041-4550-B118-5EFF458CD0E4}" srcOrd="0" destOrd="0" presId="urn:microsoft.com/office/officeart/2008/layout/PictureStrips"/>
    <dgm:cxn modelId="{138C482C-6CE3-4ACD-B0C5-90239D179CFF}" type="presParOf" srcId="{A64E572A-BC98-4D16-A29B-DF3F7DD0AAC8}" destId="{E24E6BD6-7DF6-40CA-A4AF-226349810C40}" srcOrd="1" destOrd="0" presId="urn:microsoft.com/office/officeart/2008/layout/PictureStrips"/>
    <dgm:cxn modelId="{452304E3-057B-43A0-95A7-0870127C82BA}" type="presParOf" srcId="{E0AF2D9A-8277-492D-9A94-5141FF18BF72}" destId="{13DD24A8-6D02-4152-AAD6-F40D75988398}" srcOrd="1" destOrd="0" presId="urn:microsoft.com/office/officeart/2008/layout/PictureStrips"/>
    <dgm:cxn modelId="{C56FE293-C78C-4A8D-A5BE-33FACB44B67B}" type="presParOf" srcId="{E0AF2D9A-8277-492D-9A94-5141FF18BF72}" destId="{7F274DF8-64A7-40D3-8B9A-B45B29EF2983}" srcOrd="2" destOrd="0" presId="urn:microsoft.com/office/officeart/2008/layout/PictureStrips"/>
    <dgm:cxn modelId="{87214909-2D74-4DD3-93F9-32CEF3E5051A}" type="presParOf" srcId="{7F274DF8-64A7-40D3-8B9A-B45B29EF2983}" destId="{3D06DB7D-9BAD-4606-AD31-99296AF1591A}" srcOrd="0" destOrd="0" presId="urn:microsoft.com/office/officeart/2008/layout/PictureStrips"/>
    <dgm:cxn modelId="{8B4D4169-D29C-436E-9F87-2EEC4DAA9FF5}" type="presParOf" srcId="{7F274DF8-64A7-40D3-8B9A-B45B29EF2983}" destId="{E8E6005B-CA99-4F8A-972C-8F21B6FACBAB}" srcOrd="1" destOrd="0" presId="urn:microsoft.com/office/officeart/2008/layout/PictureStrips"/>
    <dgm:cxn modelId="{5AA84676-E9E0-4CFC-B4B1-61EC75BF592E}" type="presParOf" srcId="{E0AF2D9A-8277-492D-9A94-5141FF18BF72}" destId="{87984583-B4CE-4B00-9652-BBDECC2E57DE}" srcOrd="3" destOrd="0" presId="urn:microsoft.com/office/officeart/2008/layout/PictureStrips"/>
    <dgm:cxn modelId="{F213ACC8-3AC8-4727-BA53-A1E00A1DBB62}" type="presParOf" srcId="{E0AF2D9A-8277-492D-9A94-5141FF18BF72}" destId="{134BD124-24E1-42B3-83A1-E8EAE2187456}" srcOrd="4" destOrd="0" presId="urn:microsoft.com/office/officeart/2008/layout/PictureStrips"/>
    <dgm:cxn modelId="{177A29D8-C72B-4F03-8AF9-E7DB1673DE42}" type="presParOf" srcId="{134BD124-24E1-42B3-83A1-E8EAE2187456}" destId="{60D70C72-4A49-43A0-A6D7-B758D46A9CD9}" srcOrd="0" destOrd="0" presId="urn:microsoft.com/office/officeart/2008/layout/PictureStrips"/>
    <dgm:cxn modelId="{890FAC46-9F18-4DD0-B3A1-E8FC2181B0CD}" type="presParOf" srcId="{134BD124-24E1-42B3-83A1-E8EAE2187456}" destId="{0E236C4D-AAEA-4F35-8AD7-1A49234F6897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673D38-892A-480F-9541-822F1FF0279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A82B6D1-3952-477A-8272-A07F5D9DCCE3}">
      <dgm:prSet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ctr" latinLnBrk="1"/>
          <a:r>
            <a:rPr lang="en-US" sz="1300" b="0" dirty="0">
              <a:solidFill>
                <a:schemeClr val="tx1"/>
              </a:solidFill>
            </a:rPr>
            <a:t>1.  </a:t>
          </a:r>
          <a:r>
            <a:rPr lang="ko-KR" sz="1300" b="0" dirty="0">
              <a:solidFill>
                <a:schemeClr val="tx1"/>
              </a:solidFill>
            </a:rPr>
            <a:t>기업의 부담을 완화</a:t>
          </a:r>
          <a:r>
            <a:rPr lang="ko-KR" altLang="en-US" sz="1300" b="0" dirty="0">
              <a:solidFill>
                <a:schemeClr val="tx1"/>
              </a:solidFill>
            </a:rPr>
            <a:t>를 위해         </a:t>
          </a:r>
          <a:r>
            <a:rPr lang="ko-KR" sz="1300" b="0" dirty="0">
              <a:solidFill>
                <a:schemeClr val="tx1"/>
              </a:solidFill>
            </a:rPr>
            <a:t>정보보호 및 개인정보보호 </a:t>
          </a:r>
          <a:r>
            <a:rPr lang="en-US" altLang="ko-KR" sz="1300" b="0" dirty="0">
              <a:solidFill>
                <a:schemeClr val="tx1"/>
              </a:solidFill>
            </a:rPr>
            <a:t>                    </a:t>
          </a:r>
          <a:r>
            <a:rPr lang="ko-KR" sz="1300" b="0" dirty="0">
              <a:solidFill>
                <a:schemeClr val="tx1"/>
              </a:solidFill>
            </a:rPr>
            <a:t>인증 수수료의 일부를 </a:t>
          </a:r>
          <a:r>
            <a:rPr lang="en-US" altLang="ko-KR" sz="1300" b="0" dirty="0">
              <a:solidFill>
                <a:schemeClr val="tx1"/>
              </a:solidFill>
            </a:rPr>
            <a:t>             </a:t>
          </a:r>
          <a:r>
            <a:rPr lang="ko-KR" sz="1300" b="0" dirty="0">
              <a:solidFill>
                <a:schemeClr val="tx1"/>
              </a:solidFill>
            </a:rPr>
            <a:t>감면하거</a:t>
          </a:r>
          <a:r>
            <a:rPr lang="ko-KR" altLang="en-US" sz="1300" b="0" dirty="0">
              <a:solidFill>
                <a:schemeClr val="tx1"/>
              </a:solidFill>
            </a:rPr>
            <a:t>나</a:t>
          </a:r>
          <a:r>
            <a:rPr lang="en-US" altLang="ko-KR" sz="1300" b="0" dirty="0">
              <a:solidFill>
                <a:schemeClr val="tx1"/>
              </a:solidFill>
            </a:rPr>
            <a:t>  </a:t>
          </a:r>
          <a:r>
            <a:rPr lang="ko-KR" sz="1300" b="0" dirty="0" err="1">
              <a:solidFill>
                <a:schemeClr val="tx1"/>
              </a:solidFill>
            </a:rPr>
            <a:t>제로트러스트</a:t>
          </a:r>
          <a:r>
            <a:rPr lang="ko-KR" sz="1300" b="0" dirty="0">
              <a:solidFill>
                <a:schemeClr val="tx1"/>
              </a:solidFill>
            </a:rPr>
            <a:t> </a:t>
          </a:r>
          <a:r>
            <a:rPr lang="en-US" altLang="ko-KR" sz="1300" b="0" dirty="0">
              <a:solidFill>
                <a:schemeClr val="tx1"/>
              </a:solidFill>
            </a:rPr>
            <a:t>    </a:t>
          </a:r>
          <a:r>
            <a:rPr lang="ko-KR" sz="1300" b="0" dirty="0">
              <a:solidFill>
                <a:schemeClr val="tx1"/>
              </a:solidFill>
            </a:rPr>
            <a:t>관련 항목에 대한 가점 부여 </a:t>
          </a:r>
          <a:r>
            <a:rPr lang="en-US" altLang="ko-KR" sz="1300" b="0" dirty="0">
              <a:solidFill>
                <a:schemeClr val="tx1"/>
              </a:solidFill>
            </a:rPr>
            <a:t>  </a:t>
          </a:r>
          <a:r>
            <a:rPr lang="ko-KR" sz="1300" b="0" dirty="0">
              <a:solidFill>
                <a:schemeClr val="tx1"/>
              </a:solidFill>
            </a:rPr>
            <a:t>제도를 운영</a:t>
          </a:r>
          <a:r>
            <a:rPr lang="en-US" sz="1300" b="0" dirty="0">
              <a:solidFill>
                <a:schemeClr val="tx1"/>
              </a:solidFill>
            </a:rPr>
            <a:t>.</a:t>
          </a:r>
          <a:endParaRPr lang="ko-KR" sz="1300" b="0" dirty="0">
            <a:solidFill>
              <a:schemeClr val="tx1"/>
            </a:solidFill>
          </a:endParaRPr>
        </a:p>
      </dgm:t>
    </dgm:pt>
    <dgm:pt modelId="{0E909E3F-6758-49A4-BF12-EF0C3186E5E0}" type="parTrans" cxnId="{FAA88825-2642-4EAB-AC00-892A3079CC77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78F67AAB-9A6B-420F-B48C-303DF171E269}" type="sibTrans" cxnId="{FAA88825-2642-4EAB-AC00-892A3079CC77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085F4373-7BB4-4748-9BBE-3B0DC12F0078}">
      <dgm:prSet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r>
            <a:rPr lang="en-US" sz="1300" b="0" dirty="0">
              <a:solidFill>
                <a:schemeClr val="tx1"/>
              </a:solidFill>
            </a:rPr>
            <a:t>2.  </a:t>
          </a:r>
          <a:r>
            <a:rPr lang="ko-KR" sz="1300" b="0" dirty="0">
              <a:solidFill>
                <a:schemeClr val="tx1"/>
              </a:solidFill>
            </a:rPr>
            <a:t>중소기업을 대상으로</a:t>
          </a:r>
          <a:r>
            <a:rPr lang="en-US" altLang="ko-KR" sz="1300" b="0" dirty="0">
              <a:solidFill>
                <a:schemeClr val="tx1"/>
              </a:solidFill>
            </a:rPr>
            <a:t>    </a:t>
          </a:r>
          <a:r>
            <a:rPr lang="ko-KR" sz="1300" b="0" dirty="0">
              <a:solidFill>
                <a:schemeClr val="tx1"/>
              </a:solidFill>
            </a:rPr>
            <a:t> </a:t>
          </a:r>
          <a:r>
            <a:rPr lang="en-US" altLang="ko-KR" sz="1300" b="0" dirty="0">
              <a:solidFill>
                <a:schemeClr val="tx1"/>
              </a:solidFill>
            </a:rPr>
            <a:t>               </a:t>
          </a:r>
          <a:r>
            <a:rPr lang="ko-KR" sz="1300" b="0" dirty="0">
              <a:solidFill>
                <a:schemeClr val="tx1"/>
              </a:solidFill>
            </a:rPr>
            <a:t>맞춤형 보안 컨설팅을 </a:t>
          </a:r>
          <a:r>
            <a:rPr lang="en-US" altLang="ko-KR" sz="1300" b="0" dirty="0">
              <a:solidFill>
                <a:schemeClr val="tx1"/>
              </a:solidFill>
            </a:rPr>
            <a:t>            </a:t>
          </a:r>
          <a:r>
            <a:rPr lang="ko-KR" sz="1300" b="0" dirty="0">
              <a:solidFill>
                <a:schemeClr val="tx1"/>
              </a:solidFill>
            </a:rPr>
            <a:t>제공하고</a:t>
          </a:r>
          <a:r>
            <a:rPr lang="en-US" sz="1300" b="0" dirty="0">
              <a:solidFill>
                <a:schemeClr val="tx1"/>
              </a:solidFill>
            </a:rPr>
            <a:t>,  </a:t>
          </a:r>
          <a:r>
            <a:rPr lang="ko-KR" sz="1300" b="0" dirty="0">
              <a:solidFill>
                <a:schemeClr val="tx1"/>
              </a:solidFill>
            </a:rPr>
            <a:t>실증 사업이나 정부 지원 과제와</a:t>
          </a:r>
          <a:r>
            <a:rPr lang="en-US" altLang="ko-KR" sz="1300" b="0" dirty="0">
              <a:solidFill>
                <a:schemeClr val="tx1"/>
              </a:solidFill>
            </a:rPr>
            <a:t> </a:t>
          </a:r>
          <a:r>
            <a:rPr lang="ko-KR" sz="1300" b="0" dirty="0">
              <a:solidFill>
                <a:schemeClr val="tx1"/>
              </a:solidFill>
            </a:rPr>
            <a:t>연계하여 </a:t>
          </a:r>
          <a:r>
            <a:rPr lang="en-US" altLang="ko-KR" sz="1300" b="0" dirty="0">
              <a:solidFill>
                <a:schemeClr val="tx1"/>
              </a:solidFill>
            </a:rPr>
            <a:t>                </a:t>
          </a:r>
          <a:r>
            <a:rPr lang="ko-KR" sz="1300" b="0" dirty="0" err="1">
              <a:solidFill>
                <a:schemeClr val="tx1"/>
              </a:solidFill>
            </a:rPr>
            <a:t>제로트러스트를</a:t>
          </a:r>
          <a:r>
            <a:rPr lang="ko-KR" sz="1300" b="0" dirty="0">
              <a:solidFill>
                <a:schemeClr val="tx1"/>
              </a:solidFill>
            </a:rPr>
            <a:t> 시범 적용할 수 있는 환경을</a:t>
          </a:r>
          <a:r>
            <a:rPr lang="en-US" altLang="ko-KR" sz="1300" b="0" dirty="0">
              <a:solidFill>
                <a:schemeClr val="tx1"/>
              </a:solidFill>
            </a:rPr>
            <a:t> </a:t>
          </a:r>
          <a:r>
            <a:rPr lang="ko-KR" altLang="en-US" sz="1300" b="0" dirty="0">
              <a:solidFill>
                <a:schemeClr val="tx1"/>
              </a:solidFill>
            </a:rPr>
            <a:t>마련</a:t>
          </a:r>
          <a:r>
            <a:rPr lang="en-US" altLang="ko-KR" sz="1300" b="0" dirty="0">
              <a:solidFill>
                <a:schemeClr val="tx1"/>
              </a:solidFill>
            </a:rPr>
            <a:t>.</a:t>
          </a:r>
          <a:endParaRPr lang="ko-KR" sz="1300" b="0" dirty="0">
            <a:solidFill>
              <a:schemeClr val="tx1"/>
            </a:solidFill>
          </a:endParaRPr>
        </a:p>
      </dgm:t>
    </dgm:pt>
    <dgm:pt modelId="{CDA710A2-DC5F-4174-8AB5-F41A77625C49}" type="parTrans" cxnId="{2A6A976E-101E-459B-8916-640E8F9DED0A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2A2E625D-770F-43A2-8B9B-CB3FE076D6AD}" type="sibTrans" cxnId="{2A6A976E-101E-459B-8916-640E8F9DED0A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26F9E507-D843-4245-87B5-D34AEF9C5E0C}">
      <dgm:prSet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r>
            <a:rPr lang="en-US" sz="1300" b="0" dirty="0">
              <a:solidFill>
                <a:schemeClr val="tx1"/>
              </a:solidFill>
            </a:rPr>
            <a:t>3.  </a:t>
          </a:r>
          <a:r>
            <a:rPr lang="ko-KR" sz="1300" b="0" dirty="0">
              <a:solidFill>
                <a:schemeClr val="tx1"/>
              </a:solidFill>
            </a:rPr>
            <a:t>도입 비용을 낮추기 위한 </a:t>
          </a:r>
          <a:r>
            <a:rPr lang="en-US" altLang="ko-KR" sz="1300" b="0" dirty="0">
              <a:solidFill>
                <a:schemeClr val="tx1"/>
              </a:solidFill>
            </a:rPr>
            <a:t>              </a:t>
          </a:r>
          <a:r>
            <a:rPr lang="ko-KR" sz="1300" b="0" dirty="0">
              <a:solidFill>
                <a:schemeClr val="tx1"/>
              </a:solidFill>
            </a:rPr>
            <a:t>공공</a:t>
          </a:r>
          <a:r>
            <a:rPr lang="en-US" sz="1300" b="0" dirty="0">
              <a:solidFill>
                <a:schemeClr val="tx1"/>
              </a:solidFill>
            </a:rPr>
            <a:t>-</a:t>
          </a:r>
          <a:r>
            <a:rPr lang="ko-KR" sz="1300" b="0" dirty="0">
              <a:solidFill>
                <a:schemeClr val="tx1"/>
              </a:solidFill>
            </a:rPr>
            <a:t>민간 협력 프로그램을 </a:t>
          </a:r>
          <a:r>
            <a:rPr lang="en-US" altLang="ko-KR" sz="1300" b="0" dirty="0">
              <a:solidFill>
                <a:schemeClr val="tx1"/>
              </a:solidFill>
            </a:rPr>
            <a:t> </a:t>
          </a:r>
          <a:r>
            <a:rPr lang="ko-KR" sz="1300" b="0" dirty="0">
              <a:solidFill>
                <a:schemeClr val="tx1"/>
              </a:solidFill>
            </a:rPr>
            <a:t>확대하고</a:t>
          </a:r>
          <a:r>
            <a:rPr lang="en-US" sz="1300" b="0" dirty="0">
              <a:solidFill>
                <a:schemeClr val="tx1"/>
              </a:solidFill>
            </a:rPr>
            <a:t> </a:t>
          </a:r>
          <a:r>
            <a:rPr lang="ko-KR" sz="1300" b="0" dirty="0">
              <a:solidFill>
                <a:schemeClr val="tx1"/>
              </a:solidFill>
            </a:rPr>
            <a:t>기술 중립성을 유지한 채 다양한 보안 솔루션에 접근할 수 있는 기회를 </a:t>
          </a:r>
          <a:r>
            <a:rPr lang="ko-KR" altLang="en-US" sz="1300" b="0" dirty="0">
              <a:solidFill>
                <a:schemeClr val="tx1"/>
              </a:solidFill>
            </a:rPr>
            <a:t>제공</a:t>
          </a:r>
          <a:r>
            <a:rPr lang="en-US" altLang="ko-KR" sz="1300" b="0" dirty="0">
              <a:solidFill>
                <a:schemeClr val="tx1"/>
              </a:solidFill>
            </a:rPr>
            <a:t>.</a:t>
          </a:r>
          <a:endParaRPr lang="ko-KR" sz="1300" b="0" dirty="0">
            <a:solidFill>
              <a:schemeClr val="tx1"/>
            </a:solidFill>
          </a:endParaRPr>
        </a:p>
      </dgm:t>
    </dgm:pt>
    <dgm:pt modelId="{60149E77-0C21-4AD4-A189-1B0747436D6F}" type="parTrans" cxnId="{32835786-4515-4F8F-8F2D-B232555E391C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FD7D9D5E-6089-4673-A213-F29B496E11FA}" type="sibTrans" cxnId="{32835786-4515-4F8F-8F2D-B232555E391C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F313710A-7527-41C4-94FE-A844F666936B}">
      <dgm:prSet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r>
            <a:rPr lang="en-US" sz="1300" b="0" dirty="0">
              <a:solidFill>
                <a:schemeClr val="tx1"/>
              </a:solidFill>
            </a:rPr>
            <a:t>4.  </a:t>
          </a:r>
          <a:r>
            <a:rPr lang="ko-KR" sz="1300" b="0" dirty="0">
              <a:solidFill>
                <a:schemeClr val="tx1"/>
              </a:solidFill>
            </a:rPr>
            <a:t>실제 적용 기업의 사례를 </a:t>
          </a:r>
          <a:r>
            <a:rPr lang="en-US" altLang="ko-KR" sz="1300" b="0" dirty="0">
              <a:solidFill>
                <a:schemeClr val="tx1"/>
              </a:solidFill>
            </a:rPr>
            <a:t>              </a:t>
          </a:r>
          <a:r>
            <a:rPr lang="ko-KR" sz="1300" b="0" dirty="0">
              <a:solidFill>
                <a:schemeClr val="tx1"/>
              </a:solidFill>
            </a:rPr>
            <a:t>발굴하고</a:t>
          </a:r>
          <a:r>
            <a:rPr lang="en-US" sz="1300" b="0" dirty="0">
              <a:solidFill>
                <a:schemeClr val="tx1"/>
              </a:solidFill>
            </a:rPr>
            <a:t>, </a:t>
          </a:r>
          <a:r>
            <a:rPr lang="ko-KR" sz="1300" b="0" dirty="0">
              <a:solidFill>
                <a:schemeClr val="tx1"/>
              </a:solidFill>
            </a:rPr>
            <a:t>비용 대비 보안 </a:t>
          </a:r>
          <a:r>
            <a:rPr lang="en-US" altLang="ko-KR" sz="1300" b="0" dirty="0">
              <a:solidFill>
                <a:schemeClr val="tx1"/>
              </a:solidFill>
            </a:rPr>
            <a:t>     </a:t>
          </a:r>
          <a:r>
            <a:rPr lang="ko-KR" sz="1300" b="0" dirty="0">
              <a:solidFill>
                <a:schemeClr val="tx1"/>
              </a:solidFill>
            </a:rPr>
            <a:t>효과에 대한 정량적</a:t>
          </a:r>
          <a:r>
            <a:rPr lang="en-US" sz="1300" b="0" dirty="0">
              <a:solidFill>
                <a:schemeClr val="tx1"/>
              </a:solidFill>
            </a:rPr>
            <a:t>·</a:t>
          </a:r>
          <a:r>
            <a:rPr lang="ko-KR" sz="1300" b="0" dirty="0">
              <a:solidFill>
                <a:schemeClr val="tx1"/>
              </a:solidFill>
            </a:rPr>
            <a:t>정성적 </a:t>
          </a:r>
          <a:r>
            <a:rPr lang="en-US" altLang="ko-KR" sz="1300" b="0" dirty="0">
              <a:solidFill>
                <a:schemeClr val="tx1"/>
              </a:solidFill>
            </a:rPr>
            <a:t> </a:t>
          </a:r>
          <a:r>
            <a:rPr lang="ko-KR" sz="1300" b="0" dirty="0">
              <a:solidFill>
                <a:schemeClr val="tx1"/>
              </a:solidFill>
            </a:rPr>
            <a:t>분석을 제공</a:t>
          </a:r>
          <a:r>
            <a:rPr lang="ko-KR" altLang="en-US" sz="1300" b="0" dirty="0">
              <a:solidFill>
                <a:schemeClr val="tx1"/>
              </a:solidFill>
            </a:rPr>
            <a:t>하여</a:t>
          </a:r>
          <a:r>
            <a:rPr lang="en-US" sz="1300" b="0" dirty="0">
              <a:solidFill>
                <a:schemeClr val="tx1"/>
              </a:solidFill>
            </a:rPr>
            <a:t>                      </a:t>
          </a:r>
          <a:r>
            <a:rPr lang="ko-KR" sz="1300" b="0" dirty="0">
              <a:solidFill>
                <a:schemeClr val="tx1"/>
              </a:solidFill>
            </a:rPr>
            <a:t>정책적 설득력을 높이고 </a:t>
          </a:r>
          <a:r>
            <a:rPr lang="en-US" altLang="ko-KR" sz="1300" b="0" dirty="0">
              <a:solidFill>
                <a:schemeClr val="tx1"/>
              </a:solidFill>
            </a:rPr>
            <a:t>       </a:t>
          </a:r>
          <a:r>
            <a:rPr lang="ko-KR" sz="1300" b="0" dirty="0">
              <a:solidFill>
                <a:schemeClr val="tx1"/>
              </a:solidFill>
            </a:rPr>
            <a:t>도입 유인을 강화</a:t>
          </a:r>
        </a:p>
      </dgm:t>
    </dgm:pt>
    <dgm:pt modelId="{C1668AE6-349C-48D7-943D-0E01B04B3977}" type="parTrans" cxnId="{5B3472E7-ED83-4405-8165-46FB4D0CB8A0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6BB60EBC-1426-41B1-A1BA-C559D5149C64}" type="sibTrans" cxnId="{5B3472E7-ED83-4405-8165-46FB4D0CB8A0}">
      <dgm:prSet/>
      <dgm:spPr/>
      <dgm:t>
        <a:bodyPr/>
        <a:lstStyle/>
        <a:p>
          <a:pPr latinLnBrk="1"/>
          <a:endParaRPr lang="ko-KR" altLang="en-US" sz="1300" b="0">
            <a:solidFill>
              <a:schemeClr val="tx1"/>
            </a:solidFill>
          </a:endParaRPr>
        </a:p>
      </dgm:t>
    </dgm:pt>
    <dgm:pt modelId="{F6B4EBC5-447C-4B20-A6CB-A889BAD067E6}" type="pres">
      <dgm:prSet presAssocID="{C4673D38-892A-480F-9541-822F1FF0279E}" presName="CompostProcess" presStyleCnt="0">
        <dgm:presLayoutVars>
          <dgm:dir/>
          <dgm:resizeHandles val="exact"/>
        </dgm:presLayoutVars>
      </dgm:prSet>
      <dgm:spPr/>
    </dgm:pt>
    <dgm:pt modelId="{CEA4A1DD-B10B-4143-B8EF-6F2C8B5630C6}" type="pres">
      <dgm:prSet presAssocID="{C4673D38-892A-480F-9541-822F1FF0279E}" presName="arrow" presStyleLbl="bgShp" presStyleIdx="0" presStyleCnt="1" custLinFactNeighborX="-309" custLinFactNeighborY="265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0FDC2A6-BC2C-4FA1-8C9A-B01E24D1BDA3}" type="pres">
      <dgm:prSet presAssocID="{C4673D38-892A-480F-9541-822F1FF0279E}" presName="linearProcess" presStyleCnt="0"/>
      <dgm:spPr/>
    </dgm:pt>
    <dgm:pt modelId="{48723584-3943-4317-8836-EAE5D28CD381}" type="pres">
      <dgm:prSet presAssocID="{BA82B6D1-3952-477A-8272-A07F5D9DCCE3}" presName="textNode" presStyleLbl="node1" presStyleIdx="0" presStyleCnt="4">
        <dgm:presLayoutVars>
          <dgm:bulletEnabled val="1"/>
        </dgm:presLayoutVars>
      </dgm:prSet>
      <dgm:spPr/>
    </dgm:pt>
    <dgm:pt modelId="{E0F53445-BD2E-4665-8AEE-3658F9E54BA9}" type="pres">
      <dgm:prSet presAssocID="{78F67AAB-9A6B-420F-B48C-303DF171E269}" presName="sibTrans" presStyleCnt="0"/>
      <dgm:spPr/>
    </dgm:pt>
    <dgm:pt modelId="{8599E3B5-E0DF-4892-9E0C-B4433A27C485}" type="pres">
      <dgm:prSet presAssocID="{085F4373-7BB4-4748-9BBE-3B0DC12F0078}" presName="textNode" presStyleLbl="node1" presStyleIdx="1" presStyleCnt="4">
        <dgm:presLayoutVars>
          <dgm:bulletEnabled val="1"/>
        </dgm:presLayoutVars>
      </dgm:prSet>
      <dgm:spPr/>
    </dgm:pt>
    <dgm:pt modelId="{6308D227-D210-45E3-B6DF-C51731299808}" type="pres">
      <dgm:prSet presAssocID="{2A2E625D-770F-43A2-8B9B-CB3FE076D6AD}" presName="sibTrans" presStyleCnt="0"/>
      <dgm:spPr/>
    </dgm:pt>
    <dgm:pt modelId="{BF598E0F-3D95-47F5-9667-A5D5E6A7E5FA}" type="pres">
      <dgm:prSet presAssocID="{26F9E507-D843-4245-87B5-D34AEF9C5E0C}" presName="textNode" presStyleLbl="node1" presStyleIdx="2" presStyleCnt="4">
        <dgm:presLayoutVars>
          <dgm:bulletEnabled val="1"/>
        </dgm:presLayoutVars>
      </dgm:prSet>
      <dgm:spPr/>
    </dgm:pt>
    <dgm:pt modelId="{F3FD1CDF-6A2E-4D17-B755-5A219C363BD7}" type="pres">
      <dgm:prSet presAssocID="{FD7D9D5E-6089-4673-A213-F29B496E11FA}" presName="sibTrans" presStyleCnt="0"/>
      <dgm:spPr/>
    </dgm:pt>
    <dgm:pt modelId="{5CCE09B6-53AC-46EA-9485-79084E88206D}" type="pres">
      <dgm:prSet presAssocID="{F313710A-7527-41C4-94FE-A844F666936B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AA88825-2642-4EAB-AC00-892A3079CC77}" srcId="{C4673D38-892A-480F-9541-822F1FF0279E}" destId="{BA82B6D1-3952-477A-8272-A07F5D9DCCE3}" srcOrd="0" destOrd="0" parTransId="{0E909E3F-6758-49A4-BF12-EF0C3186E5E0}" sibTransId="{78F67AAB-9A6B-420F-B48C-303DF171E269}"/>
    <dgm:cxn modelId="{A6A3702B-4E21-4036-955F-7906E3A49698}" type="presOf" srcId="{C4673D38-892A-480F-9541-822F1FF0279E}" destId="{F6B4EBC5-447C-4B20-A6CB-A889BAD067E6}" srcOrd="0" destOrd="0" presId="urn:microsoft.com/office/officeart/2005/8/layout/hProcess9"/>
    <dgm:cxn modelId="{D2CD675D-A38D-47F7-A46C-D445FF8B7405}" type="presOf" srcId="{085F4373-7BB4-4748-9BBE-3B0DC12F0078}" destId="{8599E3B5-E0DF-4892-9E0C-B4433A27C485}" srcOrd="0" destOrd="0" presId="urn:microsoft.com/office/officeart/2005/8/layout/hProcess9"/>
    <dgm:cxn modelId="{2A6A976E-101E-459B-8916-640E8F9DED0A}" srcId="{C4673D38-892A-480F-9541-822F1FF0279E}" destId="{085F4373-7BB4-4748-9BBE-3B0DC12F0078}" srcOrd="1" destOrd="0" parTransId="{CDA710A2-DC5F-4174-8AB5-F41A77625C49}" sibTransId="{2A2E625D-770F-43A2-8B9B-CB3FE076D6AD}"/>
    <dgm:cxn modelId="{789C2080-1C5B-4BD2-A05A-DF74E284B841}" type="presOf" srcId="{F313710A-7527-41C4-94FE-A844F666936B}" destId="{5CCE09B6-53AC-46EA-9485-79084E88206D}" srcOrd="0" destOrd="0" presId="urn:microsoft.com/office/officeart/2005/8/layout/hProcess9"/>
    <dgm:cxn modelId="{32835786-4515-4F8F-8F2D-B232555E391C}" srcId="{C4673D38-892A-480F-9541-822F1FF0279E}" destId="{26F9E507-D843-4245-87B5-D34AEF9C5E0C}" srcOrd="2" destOrd="0" parTransId="{60149E77-0C21-4AD4-A189-1B0747436D6F}" sibTransId="{FD7D9D5E-6089-4673-A213-F29B496E11FA}"/>
    <dgm:cxn modelId="{BF3D8BC2-33B5-4EF1-8022-BEFB266AD231}" type="presOf" srcId="{BA82B6D1-3952-477A-8272-A07F5D9DCCE3}" destId="{48723584-3943-4317-8836-EAE5D28CD381}" srcOrd="0" destOrd="0" presId="urn:microsoft.com/office/officeart/2005/8/layout/hProcess9"/>
    <dgm:cxn modelId="{E26E9AE6-656F-454C-A39C-E4AF7BE3B30A}" type="presOf" srcId="{26F9E507-D843-4245-87B5-D34AEF9C5E0C}" destId="{BF598E0F-3D95-47F5-9667-A5D5E6A7E5FA}" srcOrd="0" destOrd="0" presId="urn:microsoft.com/office/officeart/2005/8/layout/hProcess9"/>
    <dgm:cxn modelId="{5B3472E7-ED83-4405-8165-46FB4D0CB8A0}" srcId="{C4673D38-892A-480F-9541-822F1FF0279E}" destId="{F313710A-7527-41C4-94FE-A844F666936B}" srcOrd="3" destOrd="0" parTransId="{C1668AE6-349C-48D7-943D-0E01B04B3977}" sibTransId="{6BB60EBC-1426-41B1-A1BA-C559D5149C64}"/>
    <dgm:cxn modelId="{3E8204FE-73E7-42DE-8DAE-83D3CAEAE2D8}" type="presParOf" srcId="{F6B4EBC5-447C-4B20-A6CB-A889BAD067E6}" destId="{CEA4A1DD-B10B-4143-B8EF-6F2C8B5630C6}" srcOrd="0" destOrd="0" presId="urn:microsoft.com/office/officeart/2005/8/layout/hProcess9"/>
    <dgm:cxn modelId="{7D62CDFF-C548-4261-9DC1-BACC1BCA57A1}" type="presParOf" srcId="{F6B4EBC5-447C-4B20-A6CB-A889BAD067E6}" destId="{A0FDC2A6-BC2C-4FA1-8C9A-B01E24D1BDA3}" srcOrd="1" destOrd="0" presId="urn:microsoft.com/office/officeart/2005/8/layout/hProcess9"/>
    <dgm:cxn modelId="{4FCEB2C7-3CE8-4108-96E2-F5CAF14D8766}" type="presParOf" srcId="{A0FDC2A6-BC2C-4FA1-8C9A-B01E24D1BDA3}" destId="{48723584-3943-4317-8836-EAE5D28CD381}" srcOrd="0" destOrd="0" presId="urn:microsoft.com/office/officeart/2005/8/layout/hProcess9"/>
    <dgm:cxn modelId="{BBE681F7-4D68-491F-987A-2A12EEE06A1F}" type="presParOf" srcId="{A0FDC2A6-BC2C-4FA1-8C9A-B01E24D1BDA3}" destId="{E0F53445-BD2E-4665-8AEE-3658F9E54BA9}" srcOrd="1" destOrd="0" presId="urn:microsoft.com/office/officeart/2005/8/layout/hProcess9"/>
    <dgm:cxn modelId="{78FB4365-2FB5-4F10-ACED-ABA7E5B16452}" type="presParOf" srcId="{A0FDC2A6-BC2C-4FA1-8C9A-B01E24D1BDA3}" destId="{8599E3B5-E0DF-4892-9E0C-B4433A27C485}" srcOrd="2" destOrd="0" presId="urn:microsoft.com/office/officeart/2005/8/layout/hProcess9"/>
    <dgm:cxn modelId="{46FFBEF0-EE89-4C8D-BCAC-EDC99ABE38E0}" type="presParOf" srcId="{A0FDC2A6-BC2C-4FA1-8C9A-B01E24D1BDA3}" destId="{6308D227-D210-45E3-B6DF-C51731299808}" srcOrd="3" destOrd="0" presId="urn:microsoft.com/office/officeart/2005/8/layout/hProcess9"/>
    <dgm:cxn modelId="{C739BA3D-68B8-420F-8589-660DBD2CC198}" type="presParOf" srcId="{A0FDC2A6-BC2C-4FA1-8C9A-B01E24D1BDA3}" destId="{BF598E0F-3D95-47F5-9667-A5D5E6A7E5FA}" srcOrd="4" destOrd="0" presId="urn:microsoft.com/office/officeart/2005/8/layout/hProcess9"/>
    <dgm:cxn modelId="{39285C8C-8B71-4B8C-9F24-255D27FBFEBF}" type="presParOf" srcId="{A0FDC2A6-BC2C-4FA1-8C9A-B01E24D1BDA3}" destId="{F3FD1CDF-6A2E-4D17-B755-5A219C363BD7}" srcOrd="5" destOrd="0" presId="urn:microsoft.com/office/officeart/2005/8/layout/hProcess9"/>
    <dgm:cxn modelId="{0EF0B3E8-3726-42F3-BC56-47F57051704F}" type="presParOf" srcId="{A0FDC2A6-BC2C-4FA1-8C9A-B01E24D1BDA3}" destId="{5CCE09B6-53AC-46EA-9485-79084E88206D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528CF-9041-4550-B118-5EFF458CD0E4}">
      <dsp:nvSpPr>
        <dsp:cNvPr id="0" name=""/>
        <dsp:cNvSpPr/>
      </dsp:nvSpPr>
      <dsp:spPr>
        <a:xfrm>
          <a:off x="209066" y="365754"/>
          <a:ext cx="5164073" cy="161377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3062" tIns="57150" rIns="57150" bIns="57150" numCol="1" spcCol="1270" anchor="ctr" anchorCtr="0">
          <a:noAutofit/>
        </a:bodyPr>
        <a:lstStyle/>
        <a:p>
          <a:pPr marL="0" lvl="0" indent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b="0" kern="1200" dirty="0" err="1"/>
            <a:t>제로트러스트가</a:t>
          </a:r>
          <a:r>
            <a:rPr lang="ko-KR" altLang="en-US" sz="1500" b="0" kern="1200" dirty="0"/>
            <a:t> 국내에서는 아직 초기 단계</a:t>
          </a:r>
          <a:endParaRPr lang="en-US" altLang="ko-KR" sz="1500" b="0" kern="1200" dirty="0"/>
        </a:p>
        <a:p>
          <a:pPr marL="0" lvl="0" indent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b="0" kern="1200" dirty="0"/>
            <a:t>▶</a:t>
          </a:r>
          <a:r>
            <a:rPr lang="ko-KR" sz="1500" b="0" kern="1200" dirty="0"/>
            <a:t>관련 법령</a:t>
          </a:r>
          <a:r>
            <a:rPr lang="en-US" sz="1500" b="0" kern="1200" dirty="0"/>
            <a:t> </a:t>
          </a:r>
          <a:r>
            <a:rPr lang="ko-KR" sz="1500" b="0" kern="1200" dirty="0"/>
            <a:t>개정 이전에 학계</a:t>
          </a:r>
          <a:r>
            <a:rPr lang="en-US" sz="1500" b="0" kern="1200" dirty="0"/>
            <a:t>, </a:t>
          </a:r>
          <a:r>
            <a:rPr lang="ko-KR" sz="1500" b="0" kern="1200" dirty="0"/>
            <a:t>전문가</a:t>
          </a:r>
          <a:r>
            <a:rPr lang="en-US" sz="1500" b="0" kern="1200" dirty="0"/>
            <a:t>, </a:t>
          </a:r>
          <a:r>
            <a:rPr lang="ko-KR" sz="1500" b="0" kern="1200" dirty="0"/>
            <a:t>정책</a:t>
          </a:r>
          <a:r>
            <a:rPr lang="en-US" altLang="ko-KR" sz="1500" b="0" kern="1200" dirty="0"/>
            <a:t>     </a:t>
          </a:r>
          <a:r>
            <a:rPr lang="ko-KR" sz="1500" b="0" kern="1200" dirty="0"/>
            <a:t>입안자 간의 충분한 논의와</a:t>
          </a:r>
          <a:r>
            <a:rPr lang="en-US" altLang="ko-KR" sz="1500" b="0" kern="1200" dirty="0"/>
            <a:t> </a:t>
          </a:r>
          <a:r>
            <a:rPr lang="ko-KR" sz="1500" b="0" kern="1200" dirty="0"/>
            <a:t>의견 수렴</a:t>
          </a:r>
          <a:r>
            <a:rPr lang="en-US" altLang="ko-KR" sz="1500" b="0" kern="1200" dirty="0"/>
            <a:t> </a:t>
          </a:r>
          <a:r>
            <a:rPr lang="ko-KR" sz="1500" b="0" kern="1200" dirty="0"/>
            <a:t>절차를 선행</a:t>
          </a:r>
          <a:endParaRPr lang="en-US" altLang="ko-KR" sz="1500" b="0" kern="1200" dirty="0"/>
        </a:p>
      </dsp:txBody>
      <dsp:txXfrm>
        <a:off x="209066" y="365754"/>
        <a:ext cx="5164073" cy="1613773"/>
      </dsp:txXfrm>
    </dsp:sp>
    <dsp:sp modelId="{E24E6BD6-7DF6-40CA-A4AF-226349810C40}">
      <dsp:nvSpPr>
        <dsp:cNvPr id="0" name=""/>
        <dsp:cNvSpPr/>
      </dsp:nvSpPr>
      <dsp:spPr>
        <a:xfrm>
          <a:off x="3708" y="170948"/>
          <a:ext cx="1129641" cy="16944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6DB7D-9BAD-4606-AD31-99296AF1591A}">
      <dsp:nvSpPr>
        <dsp:cNvPr id="0" name=""/>
        <dsp:cNvSpPr/>
      </dsp:nvSpPr>
      <dsp:spPr>
        <a:xfrm>
          <a:off x="5805017" y="404049"/>
          <a:ext cx="5164073" cy="161377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3062" tIns="57150" rIns="57150" bIns="57150" numCol="1" spcCol="1270" anchor="ctr" anchorCtr="0">
          <a:noAutofit/>
        </a:bodyPr>
        <a:lstStyle/>
        <a:p>
          <a:pPr marL="0" lvl="0" indent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ko-KR" sz="1500" b="0" kern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공공 부문부터 </a:t>
          </a:r>
          <a:r>
            <a:rPr lang="ko-KR" altLang="ko-KR" sz="1500" b="0" kern="1200" dirty="0" err="1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제로트러스트</a:t>
          </a:r>
          <a:r>
            <a:rPr lang="ko-KR" altLang="ko-KR" sz="1500" b="0" kern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도입을 </a:t>
          </a:r>
          <a:r>
            <a:rPr lang="en-US" altLang="ko-KR" sz="1500" b="0" kern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           </a:t>
          </a:r>
          <a:r>
            <a:rPr lang="ko-KR" altLang="ko-KR" sz="1500" b="0" kern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단계적으로 의무화</a:t>
          </a:r>
          <a:r>
            <a:rPr lang="en-US" altLang="ko-KR" sz="1500" b="0" kern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                                            </a:t>
          </a:r>
          <a:r>
            <a:rPr lang="ko-KR" altLang="ko-KR" sz="1500" b="0" kern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민간 부문에는 인증제도 및 인센티브 제도를 통해 자발적 도입을 유도하는 혼합형 정책 </a:t>
          </a:r>
          <a:r>
            <a:rPr lang="en-US" altLang="ko-KR" sz="1500" b="0" kern="12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    </a:t>
          </a:r>
          <a:r>
            <a:rPr lang="ko-KR" altLang="ko-KR" sz="1500" b="0" kern="12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전략을 </a:t>
          </a:r>
          <a:r>
            <a:rPr lang="ko-KR" altLang="ko-KR" sz="1500" b="0" kern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rPr>
            <a:t>수립</a:t>
          </a:r>
          <a:endParaRPr lang="ko-KR" sz="1500" b="0" kern="1200" dirty="0"/>
        </a:p>
      </dsp:txBody>
      <dsp:txXfrm>
        <a:off x="5805017" y="404049"/>
        <a:ext cx="5164073" cy="1613773"/>
      </dsp:txXfrm>
    </dsp:sp>
    <dsp:sp modelId="{E8E6005B-CA99-4F8A-972C-8F21B6FACBAB}">
      <dsp:nvSpPr>
        <dsp:cNvPr id="0" name=""/>
        <dsp:cNvSpPr/>
      </dsp:nvSpPr>
      <dsp:spPr>
        <a:xfrm>
          <a:off x="5589847" y="170948"/>
          <a:ext cx="1129641" cy="16944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70C72-4A49-43A0-A6D7-B758D46A9CD9}">
      <dsp:nvSpPr>
        <dsp:cNvPr id="0" name=""/>
        <dsp:cNvSpPr/>
      </dsp:nvSpPr>
      <dsp:spPr>
        <a:xfrm>
          <a:off x="3011947" y="2435610"/>
          <a:ext cx="5164073" cy="161377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3062" tIns="57150" rIns="57150" bIns="57150" numCol="1" spcCol="1270" anchor="ctr" anchorCtr="0">
          <a:noAutofit/>
        </a:bodyPr>
        <a:lstStyle/>
        <a:p>
          <a:pPr marL="0" lvl="0" indent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500" b="0" kern="1200" dirty="0"/>
            <a:t>법제화 추진 시</a:t>
          </a:r>
          <a:r>
            <a:rPr lang="en-US" sz="1500" b="0" kern="1200" dirty="0"/>
            <a:t>,                                                       </a:t>
          </a:r>
          <a:r>
            <a:rPr lang="ko-KR" sz="1500" b="0" kern="1200" dirty="0"/>
            <a:t>기술 중립성과 환경 맞춤형 적용 가능성을 </a:t>
          </a:r>
          <a:r>
            <a:rPr lang="en-US" altLang="ko-KR" sz="1500" b="0" kern="1200" dirty="0"/>
            <a:t>       </a:t>
          </a:r>
          <a:r>
            <a:rPr lang="ko-KR" sz="1500" b="0" kern="1200" dirty="0"/>
            <a:t>고려하여 유연한 도입 기준과 선택적 실행 </a:t>
          </a:r>
          <a:r>
            <a:rPr lang="en-US" altLang="ko-KR" sz="1500" b="0" kern="1200" dirty="0"/>
            <a:t>       </a:t>
          </a:r>
          <a:r>
            <a:rPr lang="ko-KR" sz="1500" b="0" kern="1200" dirty="0"/>
            <a:t>옵션을 제공해야 한다</a:t>
          </a:r>
          <a:r>
            <a:rPr lang="en-US" sz="1500" b="0" kern="1200" dirty="0"/>
            <a:t>.</a:t>
          </a:r>
          <a:endParaRPr lang="ko-KR" sz="1500" b="0" kern="1200" dirty="0"/>
        </a:p>
      </dsp:txBody>
      <dsp:txXfrm>
        <a:off x="3011947" y="2435610"/>
        <a:ext cx="5164073" cy="1613773"/>
      </dsp:txXfrm>
    </dsp:sp>
    <dsp:sp modelId="{0E236C4D-AAEA-4F35-8AD7-1A49234F6897}">
      <dsp:nvSpPr>
        <dsp:cNvPr id="0" name=""/>
        <dsp:cNvSpPr/>
      </dsp:nvSpPr>
      <dsp:spPr>
        <a:xfrm>
          <a:off x="2796778" y="2202509"/>
          <a:ext cx="1129641" cy="16944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9000" r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4A1DD-B10B-4143-B8EF-6F2C8B5630C6}">
      <dsp:nvSpPr>
        <dsp:cNvPr id="0" name=""/>
        <dsp:cNvSpPr/>
      </dsp:nvSpPr>
      <dsp:spPr>
        <a:xfrm>
          <a:off x="797481" y="0"/>
          <a:ext cx="9366129" cy="3952568"/>
        </a:xfrm>
        <a:prstGeom prst="rightArrow">
          <a:avLst/>
        </a:prstGeom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23584-3943-4317-8836-EAE5D28CD381}">
      <dsp:nvSpPr>
        <dsp:cNvPr id="0" name=""/>
        <dsp:cNvSpPr/>
      </dsp:nvSpPr>
      <dsp:spPr>
        <a:xfrm>
          <a:off x="3766" y="1185770"/>
          <a:ext cx="2446987" cy="1581027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solidFill>
                <a:schemeClr val="tx1"/>
              </a:solidFill>
            </a:rPr>
            <a:t>1.  </a:t>
          </a:r>
          <a:r>
            <a:rPr lang="ko-KR" sz="1300" b="0" kern="1200" dirty="0">
              <a:solidFill>
                <a:schemeClr val="tx1"/>
              </a:solidFill>
            </a:rPr>
            <a:t>기업의 부담을 완화</a:t>
          </a:r>
          <a:r>
            <a:rPr lang="ko-KR" altLang="en-US" sz="1300" b="0" kern="1200" dirty="0">
              <a:solidFill>
                <a:schemeClr val="tx1"/>
              </a:solidFill>
            </a:rPr>
            <a:t>를 위해         </a:t>
          </a:r>
          <a:r>
            <a:rPr lang="ko-KR" sz="1300" b="0" kern="1200" dirty="0">
              <a:solidFill>
                <a:schemeClr val="tx1"/>
              </a:solidFill>
            </a:rPr>
            <a:t>정보보호 및 개인정보보호 </a:t>
          </a:r>
          <a:r>
            <a:rPr lang="en-US" altLang="ko-KR" sz="1300" b="0" kern="1200" dirty="0">
              <a:solidFill>
                <a:schemeClr val="tx1"/>
              </a:solidFill>
            </a:rPr>
            <a:t>                    </a:t>
          </a:r>
          <a:r>
            <a:rPr lang="ko-KR" sz="1300" b="0" kern="1200" dirty="0">
              <a:solidFill>
                <a:schemeClr val="tx1"/>
              </a:solidFill>
            </a:rPr>
            <a:t>인증 수수료의 일부를 </a:t>
          </a:r>
          <a:r>
            <a:rPr lang="en-US" altLang="ko-KR" sz="1300" b="0" kern="1200" dirty="0">
              <a:solidFill>
                <a:schemeClr val="tx1"/>
              </a:solidFill>
            </a:rPr>
            <a:t>             </a:t>
          </a:r>
          <a:r>
            <a:rPr lang="ko-KR" sz="1300" b="0" kern="1200" dirty="0">
              <a:solidFill>
                <a:schemeClr val="tx1"/>
              </a:solidFill>
            </a:rPr>
            <a:t>감면하거</a:t>
          </a:r>
          <a:r>
            <a:rPr lang="ko-KR" altLang="en-US" sz="1300" b="0" kern="1200" dirty="0">
              <a:solidFill>
                <a:schemeClr val="tx1"/>
              </a:solidFill>
            </a:rPr>
            <a:t>나</a:t>
          </a:r>
          <a:r>
            <a:rPr lang="en-US" altLang="ko-KR" sz="1300" b="0" kern="1200" dirty="0">
              <a:solidFill>
                <a:schemeClr val="tx1"/>
              </a:solidFill>
            </a:rPr>
            <a:t>  </a:t>
          </a:r>
          <a:r>
            <a:rPr lang="ko-KR" sz="1300" b="0" kern="1200" dirty="0" err="1">
              <a:solidFill>
                <a:schemeClr val="tx1"/>
              </a:solidFill>
            </a:rPr>
            <a:t>제로트러스트</a:t>
          </a:r>
          <a:r>
            <a:rPr lang="ko-KR" sz="1300" b="0" kern="1200" dirty="0">
              <a:solidFill>
                <a:schemeClr val="tx1"/>
              </a:solidFill>
            </a:rPr>
            <a:t> </a:t>
          </a:r>
          <a:r>
            <a:rPr lang="en-US" altLang="ko-KR" sz="1300" b="0" kern="1200" dirty="0">
              <a:solidFill>
                <a:schemeClr val="tx1"/>
              </a:solidFill>
            </a:rPr>
            <a:t>    </a:t>
          </a:r>
          <a:r>
            <a:rPr lang="ko-KR" sz="1300" b="0" kern="1200" dirty="0">
              <a:solidFill>
                <a:schemeClr val="tx1"/>
              </a:solidFill>
            </a:rPr>
            <a:t>관련 항목에 대한 가점 부여 </a:t>
          </a:r>
          <a:r>
            <a:rPr lang="en-US" altLang="ko-KR" sz="1300" b="0" kern="1200" dirty="0">
              <a:solidFill>
                <a:schemeClr val="tx1"/>
              </a:solidFill>
            </a:rPr>
            <a:t>  </a:t>
          </a:r>
          <a:r>
            <a:rPr lang="ko-KR" sz="1300" b="0" kern="1200" dirty="0">
              <a:solidFill>
                <a:schemeClr val="tx1"/>
              </a:solidFill>
            </a:rPr>
            <a:t>제도를 운영</a:t>
          </a:r>
          <a:r>
            <a:rPr lang="en-US" sz="1300" b="0" kern="1200" dirty="0">
              <a:solidFill>
                <a:schemeClr val="tx1"/>
              </a:solidFill>
            </a:rPr>
            <a:t>.</a:t>
          </a:r>
          <a:endParaRPr lang="ko-KR" sz="1300" b="0" kern="1200" dirty="0">
            <a:solidFill>
              <a:schemeClr val="tx1"/>
            </a:solidFill>
          </a:endParaRPr>
        </a:p>
      </dsp:txBody>
      <dsp:txXfrm>
        <a:off x="80945" y="1262949"/>
        <a:ext cx="2292629" cy="1426669"/>
      </dsp:txXfrm>
    </dsp:sp>
    <dsp:sp modelId="{8599E3B5-E0DF-4892-9E0C-B4433A27C485}">
      <dsp:nvSpPr>
        <dsp:cNvPr id="0" name=""/>
        <dsp:cNvSpPr/>
      </dsp:nvSpPr>
      <dsp:spPr>
        <a:xfrm>
          <a:off x="2858584" y="1185770"/>
          <a:ext cx="2446987" cy="1581027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solidFill>
                <a:schemeClr val="tx1"/>
              </a:solidFill>
            </a:rPr>
            <a:t>2.  </a:t>
          </a:r>
          <a:r>
            <a:rPr lang="ko-KR" sz="1300" b="0" kern="1200" dirty="0">
              <a:solidFill>
                <a:schemeClr val="tx1"/>
              </a:solidFill>
            </a:rPr>
            <a:t>중소기업을 대상으로</a:t>
          </a:r>
          <a:r>
            <a:rPr lang="en-US" altLang="ko-KR" sz="1300" b="0" kern="1200" dirty="0">
              <a:solidFill>
                <a:schemeClr val="tx1"/>
              </a:solidFill>
            </a:rPr>
            <a:t>    </a:t>
          </a:r>
          <a:r>
            <a:rPr lang="ko-KR" sz="1300" b="0" kern="1200" dirty="0">
              <a:solidFill>
                <a:schemeClr val="tx1"/>
              </a:solidFill>
            </a:rPr>
            <a:t> </a:t>
          </a:r>
          <a:r>
            <a:rPr lang="en-US" altLang="ko-KR" sz="1300" b="0" kern="1200" dirty="0">
              <a:solidFill>
                <a:schemeClr val="tx1"/>
              </a:solidFill>
            </a:rPr>
            <a:t>               </a:t>
          </a:r>
          <a:r>
            <a:rPr lang="ko-KR" sz="1300" b="0" kern="1200" dirty="0">
              <a:solidFill>
                <a:schemeClr val="tx1"/>
              </a:solidFill>
            </a:rPr>
            <a:t>맞춤형 보안 컨설팅을 </a:t>
          </a:r>
          <a:r>
            <a:rPr lang="en-US" altLang="ko-KR" sz="1300" b="0" kern="1200" dirty="0">
              <a:solidFill>
                <a:schemeClr val="tx1"/>
              </a:solidFill>
            </a:rPr>
            <a:t>            </a:t>
          </a:r>
          <a:r>
            <a:rPr lang="ko-KR" sz="1300" b="0" kern="1200" dirty="0">
              <a:solidFill>
                <a:schemeClr val="tx1"/>
              </a:solidFill>
            </a:rPr>
            <a:t>제공하고</a:t>
          </a:r>
          <a:r>
            <a:rPr lang="en-US" sz="1300" b="0" kern="1200" dirty="0">
              <a:solidFill>
                <a:schemeClr val="tx1"/>
              </a:solidFill>
            </a:rPr>
            <a:t>,  </a:t>
          </a:r>
          <a:r>
            <a:rPr lang="ko-KR" sz="1300" b="0" kern="1200" dirty="0">
              <a:solidFill>
                <a:schemeClr val="tx1"/>
              </a:solidFill>
            </a:rPr>
            <a:t>실증 사업이나 정부 지원 과제와</a:t>
          </a:r>
          <a:r>
            <a:rPr lang="en-US" altLang="ko-KR" sz="1300" b="0" kern="1200" dirty="0">
              <a:solidFill>
                <a:schemeClr val="tx1"/>
              </a:solidFill>
            </a:rPr>
            <a:t> </a:t>
          </a:r>
          <a:r>
            <a:rPr lang="ko-KR" sz="1300" b="0" kern="1200" dirty="0">
              <a:solidFill>
                <a:schemeClr val="tx1"/>
              </a:solidFill>
            </a:rPr>
            <a:t>연계하여 </a:t>
          </a:r>
          <a:r>
            <a:rPr lang="en-US" altLang="ko-KR" sz="1300" b="0" kern="1200" dirty="0">
              <a:solidFill>
                <a:schemeClr val="tx1"/>
              </a:solidFill>
            </a:rPr>
            <a:t>                </a:t>
          </a:r>
          <a:r>
            <a:rPr lang="ko-KR" sz="1300" b="0" kern="1200" dirty="0" err="1">
              <a:solidFill>
                <a:schemeClr val="tx1"/>
              </a:solidFill>
            </a:rPr>
            <a:t>제로트러스트를</a:t>
          </a:r>
          <a:r>
            <a:rPr lang="ko-KR" sz="1300" b="0" kern="1200" dirty="0">
              <a:solidFill>
                <a:schemeClr val="tx1"/>
              </a:solidFill>
            </a:rPr>
            <a:t> 시범 적용할 수 있는 환경을</a:t>
          </a:r>
          <a:r>
            <a:rPr lang="en-US" altLang="ko-KR" sz="1300" b="0" kern="1200" dirty="0">
              <a:solidFill>
                <a:schemeClr val="tx1"/>
              </a:solidFill>
            </a:rPr>
            <a:t> </a:t>
          </a:r>
          <a:r>
            <a:rPr lang="ko-KR" altLang="en-US" sz="1300" b="0" kern="1200" dirty="0">
              <a:solidFill>
                <a:schemeClr val="tx1"/>
              </a:solidFill>
            </a:rPr>
            <a:t>마련</a:t>
          </a:r>
          <a:r>
            <a:rPr lang="en-US" altLang="ko-KR" sz="1300" b="0" kern="1200" dirty="0">
              <a:solidFill>
                <a:schemeClr val="tx1"/>
              </a:solidFill>
            </a:rPr>
            <a:t>.</a:t>
          </a:r>
          <a:endParaRPr lang="ko-KR" sz="1300" b="0" kern="1200" dirty="0">
            <a:solidFill>
              <a:schemeClr val="tx1"/>
            </a:solidFill>
          </a:endParaRPr>
        </a:p>
      </dsp:txBody>
      <dsp:txXfrm>
        <a:off x="2935763" y="1262949"/>
        <a:ext cx="2292629" cy="1426669"/>
      </dsp:txXfrm>
    </dsp:sp>
    <dsp:sp modelId="{BF598E0F-3D95-47F5-9667-A5D5E6A7E5FA}">
      <dsp:nvSpPr>
        <dsp:cNvPr id="0" name=""/>
        <dsp:cNvSpPr/>
      </dsp:nvSpPr>
      <dsp:spPr>
        <a:xfrm>
          <a:off x="5713403" y="1185770"/>
          <a:ext cx="2446987" cy="1581027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solidFill>
                <a:schemeClr val="tx1"/>
              </a:solidFill>
            </a:rPr>
            <a:t>3.  </a:t>
          </a:r>
          <a:r>
            <a:rPr lang="ko-KR" sz="1300" b="0" kern="1200" dirty="0">
              <a:solidFill>
                <a:schemeClr val="tx1"/>
              </a:solidFill>
            </a:rPr>
            <a:t>도입 비용을 낮추기 위한 </a:t>
          </a:r>
          <a:r>
            <a:rPr lang="en-US" altLang="ko-KR" sz="1300" b="0" kern="1200" dirty="0">
              <a:solidFill>
                <a:schemeClr val="tx1"/>
              </a:solidFill>
            </a:rPr>
            <a:t>              </a:t>
          </a:r>
          <a:r>
            <a:rPr lang="ko-KR" sz="1300" b="0" kern="1200" dirty="0">
              <a:solidFill>
                <a:schemeClr val="tx1"/>
              </a:solidFill>
            </a:rPr>
            <a:t>공공</a:t>
          </a:r>
          <a:r>
            <a:rPr lang="en-US" sz="1300" b="0" kern="1200" dirty="0">
              <a:solidFill>
                <a:schemeClr val="tx1"/>
              </a:solidFill>
            </a:rPr>
            <a:t>-</a:t>
          </a:r>
          <a:r>
            <a:rPr lang="ko-KR" sz="1300" b="0" kern="1200" dirty="0">
              <a:solidFill>
                <a:schemeClr val="tx1"/>
              </a:solidFill>
            </a:rPr>
            <a:t>민간 협력 프로그램을 </a:t>
          </a:r>
          <a:r>
            <a:rPr lang="en-US" altLang="ko-KR" sz="1300" b="0" kern="1200" dirty="0">
              <a:solidFill>
                <a:schemeClr val="tx1"/>
              </a:solidFill>
            </a:rPr>
            <a:t> </a:t>
          </a:r>
          <a:r>
            <a:rPr lang="ko-KR" sz="1300" b="0" kern="1200" dirty="0">
              <a:solidFill>
                <a:schemeClr val="tx1"/>
              </a:solidFill>
            </a:rPr>
            <a:t>확대하고</a:t>
          </a:r>
          <a:r>
            <a:rPr lang="en-US" sz="1300" b="0" kern="1200" dirty="0">
              <a:solidFill>
                <a:schemeClr val="tx1"/>
              </a:solidFill>
            </a:rPr>
            <a:t> </a:t>
          </a:r>
          <a:r>
            <a:rPr lang="ko-KR" sz="1300" b="0" kern="1200" dirty="0">
              <a:solidFill>
                <a:schemeClr val="tx1"/>
              </a:solidFill>
            </a:rPr>
            <a:t>기술 중립성을 유지한 채 다양한 보안 솔루션에 접근할 수 있는 기회를 </a:t>
          </a:r>
          <a:r>
            <a:rPr lang="ko-KR" altLang="en-US" sz="1300" b="0" kern="1200" dirty="0">
              <a:solidFill>
                <a:schemeClr val="tx1"/>
              </a:solidFill>
            </a:rPr>
            <a:t>제공</a:t>
          </a:r>
          <a:r>
            <a:rPr lang="en-US" altLang="ko-KR" sz="1300" b="0" kern="1200" dirty="0">
              <a:solidFill>
                <a:schemeClr val="tx1"/>
              </a:solidFill>
            </a:rPr>
            <a:t>.</a:t>
          </a:r>
          <a:endParaRPr lang="ko-KR" sz="1300" b="0" kern="1200" dirty="0">
            <a:solidFill>
              <a:schemeClr val="tx1"/>
            </a:solidFill>
          </a:endParaRPr>
        </a:p>
      </dsp:txBody>
      <dsp:txXfrm>
        <a:off x="5790582" y="1262949"/>
        <a:ext cx="2292629" cy="1426669"/>
      </dsp:txXfrm>
    </dsp:sp>
    <dsp:sp modelId="{5CCE09B6-53AC-46EA-9485-79084E88206D}">
      <dsp:nvSpPr>
        <dsp:cNvPr id="0" name=""/>
        <dsp:cNvSpPr/>
      </dsp:nvSpPr>
      <dsp:spPr>
        <a:xfrm>
          <a:off x="8568222" y="1185770"/>
          <a:ext cx="2446987" cy="1581027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solidFill>
                <a:schemeClr val="tx1"/>
              </a:solidFill>
            </a:rPr>
            <a:t>4.  </a:t>
          </a:r>
          <a:r>
            <a:rPr lang="ko-KR" sz="1300" b="0" kern="1200" dirty="0">
              <a:solidFill>
                <a:schemeClr val="tx1"/>
              </a:solidFill>
            </a:rPr>
            <a:t>실제 적용 기업의 사례를 </a:t>
          </a:r>
          <a:r>
            <a:rPr lang="en-US" altLang="ko-KR" sz="1300" b="0" kern="1200" dirty="0">
              <a:solidFill>
                <a:schemeClr val="tx1"/>
              </a:solidFill>
            </a:rPr>
            <a:t>              </a:t>
          </a:r>
          <a:r>
            <a:rPr lang="ko-KR" sz="1300" b="0" kern="1200" dirty="0">
              <a:solidFill>
                <a:schemeClr val="tx1"/>
              </a:solidFill>
            </a:rPr>
            <a:t>발굴하고</a:t>
          </a:r>
          <a:r>
            <a:rPr lang="en-US" sz="1300" b="0" kern="1200" dirty="0">
              <a:solidFill>
                <a:schemeClr val="tx1"/>
              </a:solidFill>
            </a:rPr>
            <a:t>, </a:t>
          </a:r>
          <a:r>
            <a:rPr lang="ko-KR" sz="1300" b="0" kern="1200" dirty="0">
              <a:solidFill>
                <a:schemeClr val="tx1"/>
              </a:solidFill>
            </a:rPr>
            <a:t>비용 대비 보안 </a:t>
          </a:r>
          <a:r>
            <a:rPr lang="en-US" altLang="ko-KR" sz="1300" b="0" kern="1200" dirty="0">
              <a:solidFill>
                <a:schemeClr val="tx1"/>
              </a:solidFill>
            </a:rPr>
            <a:t>     </a:t>
          </a:r>
          <a:r>
            <a:rPr lang="ko-KR" sz="1300" b="0" kern="1200" dirty="0">
              <a:solidFill>
                <a:schemeClr val="tx1"/>
              </a:solidFill>
            </a:rPr>
            <a:t>효과에 대한 정량적</a:t>
          </a:r>
          <a:r>
            <a:rPr lang="en-US" sz="1300" b="0" kern="1200" dirty="0">
              <a:solidFill>
                <a:schemeClr val="tx1"/>
              </a:solidFill>
            </a:rPr>
            <a:t>·</a:t>
          </a:r>
          <a:r>
            <a:rPr lang="ko-KR" sz="1300" b="0" kern="1200" dirty="0">
              <a:solidFill>
                <a:schemeClr val="tx1"/>
              </a:solidFill>
            </a:rPr>
            <a:t>정성적 </a:t>
          </a:r>
          <a:r>
            <a:rPr lang="en-US" altLang="ko-KR" sz="1300" b="0" kern="1200" dirty="0">
              <a:solidFill>
                <a:schemeClr val="tx1"/>
              </a:solidFill>
            </a:rPr>
            <a:t> </a:t>
          </a:r>
          <a:r>
            <a:rPr lang="ko-KR" sz="1300" b="0" kern="1200" dirty="0">
              <a:solidFill>
                <a:schemeClr val="tx1"/>
              </a:solidFill>
            </a:rPr>
            <a:t>분석을 제공</a:t>
          </a:r>
          <a:r>
            <a:rPr lang="ko-KR" altLang="en-US" sz="1300" b="0" kern="1200" dirty="0">
              <a:solidFill>
                <a:schemeClr val="tx1"/>
              </a:solidFill>
            </a:rPr>
            <a:t>하여</a:t>
          </a:r>
          <a:r>
            <a:rPr lang="en-US" sz="1300" b="0" kern="1200" dirty="0">
              <a:solidFill>
                <a:schemeClr val="tx1"/>
              </a:solidFill>
            </a:rPr>
            <a:t>                      </a:t>
          </a:r>
          <a:r>
            <a:rPr lang="ko-KR" sz="1300" b="0" kern="1200" dirty="0">
              <a:solidFill>
                <a:schemeClr val="tx1"/>
              </a:solidFill>
            </a:rPr>
            <a:t>정책적 설득력을 높이고 </a:t>
          </a:r>
          <a:r>
            <a:rPr lang="en-US" altLang="ko-KR" sz="1300" b="0" kern="1200" dirty="0">
              <a:solidFill>
                <a:schemeClr val="tx1"/>
              </a:solidFill>
            </a:rPr>
            <a:t>       </a:t>
          </a:r>
          <a:r>
            <a:rPr lang="ko-KR" sz="1300" b="0" kern="1200" dirty="0">
              <a:solidFill>
                <a:schemeClr val="tx1"/>
              </a:solidFill>
            </a:rPr>
            <a:t>도입 유인을 강화</a:t>
          </a:r>
        </a:p>
      </dsp:txBody>
      <dsp:txXfrm>
        <a:off x="8645401" y="1262949"/>
        <a:ext cx="2292629" cy="1426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BF03B4C-7222-461B-BA71-2B563A449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015D50-859B-4A21-BBA7-D227472F1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3787F14-BD9B-40AF-9CFE-56E8AD976D11}" type="datetime1">
              <a:rPr lang="ko-KR" altLang="en-US" smtClean="0">
                <a:latin typeface="+mj-ea"/>
                <a:ea typeface="+mj-ea"/>
              </a:rPr>
              <a:t>2025-05-29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14EAD1-5CAB-421B-B5BB-2FAE33EA58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3925FF-73DD-4112-9C15-8EAFF2E8C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71AD-4225-439B-B0AF-FF523CEDEDCF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060384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86D2D7D3-4FDC-45EE-BFE2-E1186CEB200A}" type="datetime1">
              <a:rPr lang="ko-KR" altLang="en-US" smtClean="0"/>
              <a:pPr/>
              <a:t>2025-05-29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F9553C36-AE66-42A1-BA56-51FF7F8C862C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46386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553C36-AE66-42A1-BA56-51FF7F8C862C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510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97784-7039-4228-BFF4-3B8CC884FDBE}" type="slidenum">
              <a:rPr kumimoji="0" lang="en-US" altLang="ko-K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171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983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786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6D68-315E-AF86-9C69-27C7FEA7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10E125-E855-9C6F-84C9-0544F323F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B76B71-0A49-DD8F-0F4D-2CF2BBD1FB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DCD52-D599-5CFB-E2B9-76A6E0D5BB41}"/>
              </a:ext>
            </a:extLst>
          </p:cNvPr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8264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8187-FE9D-F942-064C-73B38620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A487D0-5789-92C5-CD62-A61804D30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287DB0-4911-656E-2820-AC18732DF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022771-6BB9-2E50-0CC3-FDAA5C282C3B}"/>
              </a:ext>
            </a:extLst>
          </p:cNvPr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0061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4AD1-D318-50E9-713D-ED4430B2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DB1838-5CD4-6EAA-1434-EA52FC430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9DAE8A-D493-BFDA-22B5-A354BDA90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58CD7-F425-47E0-4659-04C71B54648F}"/>
              </a:ext>
            </a:extLst>
          </p:cNvPr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1937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5ECFA-5165-666B-5CA3-C0F315B0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68E303-5D47-05B7-7034-AA9688B38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0BFE63-86FD-D89C-2F53-2F116C7AD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74987-C63D-9129-1042-A7D511135958}"/>
              </a:ext>
            </a:extLst>
          </p:cNvPr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40693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3DD8-1AC9-6697-B755-2CAF4D01E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6B63E2-CB28-551A-976E-99EBD4F5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74B01-0554-8C32-FF37-AD6B87708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8DC083-C3FB-F905-66F5-7ED3396DAA7E}"/>
              </a:ext>
            </a:extLst>
          </p:cNvPr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rtl="0" latinLnBrk="0">
              <a:buFontTx/>
              <a:buNone/>
            </a:pPr>
            <a:fld id="{B9320F77-B9A0-41C5-862A-B4B631284C64}" type="slidenum">
              <a:rPr lang="en-US" altLang="ko-KR"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4323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911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B8B89-7CF2-06A3-D3D8-A06E16EE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695B25-D40D-ACB9-16D9-BEB727EB8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56A26E-4179-B3F6-E753-ACC2035A7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5738C-0192-BF5A-C6A5-662276732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258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F268E-59C4-FC98-54FF-C4909F91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FEDED9-497E-9C1F-2488-9D29FB8C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A4045F-77B6-F556-67CF-8DAD0AD93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B8DD2D-7627-EE9C-FFF3-8231FBC35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82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15BF-17B7-4F39-5E81-F83730EE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B58C8E-C560-2454-B456-6D964F682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DF2160-21B0-8798-418E-12EF00E39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6E489-A7BF-A366-9831-DE48A9701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79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6D40-6D14-7441-F17B-9FB4DDF6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853F69-5F98-05B1-2AB1-B9FDEDB63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076CC7-C3E2-3B9A-9C64-A6909A03E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5A1CB-3A0B-B13E-B270-EFE061DAD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896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045F-CEC5-B6FB-B1EB-88074A73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2CC8BC-A21C-92C2-7510-5F7FC307C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9655A2-70FA-B7D6-D790-743D78CA6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9480F1-4891-B731-8ACD-251813D8A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632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A67A-146E-FFED-FC7F-EE13F848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514235-CA5F-754B-2B0A-195E4F69F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3EC759-F8BD-3BCB-0846-7731D7177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5286B-A441-57DF-EA30-DEE74457E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889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912C-B581-AF11-3D43-DF77F8B5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37BD24-DB93-DB20-DEAD-F46E5BC48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AD186-7687-CDCF-A76E-99CB51AD7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B8DACA-FBC4-0087-7479-3138A3B23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914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9523-8BF9-B0FC-2EC2-95549ADB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18DA17-385D-97C9-75D6-CA7303D53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307499-FAE5-23AC-4208-04DB0F020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043703-27F2-5166-2010-E7CE39DF6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3736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4DF56-B453-6293-858B-F59A3E93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E38CD4-D185-3DC3-AE83-2881D5AC9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C9BA0A-B8E4-9DF4-51ED-0030A231E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AFCB1-CF28-ECDA-D831-227E0C194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9295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97A1-C488-8C29-6BEF-7BBF2353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9E8E45-8E0D-54D4-367A-DEB85B0EF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02C997-4014-E02C-CAB4-8C814475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BBE84-89E7-3CAE-718B-6CD2BC187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489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9021-DB37-D786-3F53-ABB32A19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08DD7D-4D52-04B0-D571-1F0191FD3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0C4E8C-2484-DC24-0984-3E643AAA0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26777-529C-6B11-A4FC-EB91960B1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553C36-AE66-42A1-BA56-51FF7F8C862C}" type="slidenum">
              <a:rPr lang="en-US" altLang="ko-KR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89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 useBgFill="1">
        <p:nvSpPr>
          <p:cNvPr id="10" name="직사각형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직사각형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직사각형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(S)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(S)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sp>
        <p:nvSpPr>
          <p:cNvPr id="20" name="날짜 개체 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>
                <a:latin typeface="+mj-ea"/>
              </a:rPr>
              <a:t>20XX</a:t>
            </a:r>
            <a:endParaRPr lang="ko-KR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9346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791E8DE-0B9D-43A1-8977-59BEEC2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255" y="643255"/>
            <a:ext cx="6269355" cy="55708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3330" y="1621790"/>
            <a:ext cx="5068570" cy="1301115"/>
          </a:xfrm>
        </p:spPr>
        <p:txBody>
          <a:bodyPr rtlCol="0" anchor="b"/>
          <a:lstStyle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편집하려면 클릭하세요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4CCFCCCF-0AEA-4D36-8B54-4C03F88D7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43330" y="3109595"/>
            <a:ext cx="5068570" cy="2395855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>
              <a:lnSpc>
                <a:spcPct val="150000"/>
              </a:lnSpc>
            </a:pPr>
            <a:r>
              <a:rPr lang="ko-KR" altLang="en-US" noProof="0">
                <a:cs typeface="Calibri"/>
              </a:rPr>
              <a:t>주제 </a:t>
            </a:r>
            <a:r>
              <a:rPr lang="en-US" altLang="ko-KR" noProof="0">
                <a:cs typeface="Calibri"/>
              </a:rPr>
              <a:t>1</a:t>
            </a:r>
          </a:p>
          <a:p>
            <a:pPr rtl="0">
              <a:lnSpc>
                <a:spcPct val="150000"/>
              </a:lnSpc>
            </a:pPr>
            <a:r>
              <a:rPr lang="ko-KR" altLang="en-US" noProof="0">
                <a:cs typeface="Calibri"/>
              </a:rPr>
              <a:t>주제 </a:t>
            </a:r>
            <a:r>
              <a:rPr lang="en-US" altLang="ko-KR" noProof="0">
                <a:cs typeface="Calibri"/>
              </a:rPr>
              <a:t>2</a:t>
            </a:r>
            <a:endParaRPr lang="ko-KR" altLang="en-US" noProof="0">
              <a:cs typeface="Calibri"/>
            </a:endParaRPr>
          </a:p>
          <a:p>
            <a:pPr rtl="0">
              <a:lnSpc>
                <a:spcPct val="150000"/>
              </a:lnSpc>
            </a:pPr>
            <a:r>
              <a:rPr lang="ko-KR" altLang="en-US" noProof="0">
                <a:cs typeface="Calibri"/>
              </a:rPr>
              <a:t>주제 </a:t>
            </a:r>
            <a:r>
              <a:rPr lang="en-US" altLang="ko-KR" noProof="0">
                <a:cs typeface="Calibri"/>
              </a:rPr>
              <a:t>3</a:t>
            </a:r>
            <a:endParaRPr lang="ko-KR" altLang="en-US" noProof="0">
              <a:cs typeface="Calibri"/>
            </a:endParaRPr>
          </a:p>
          <a:p>
            <a:pPr rtl="0">
              <a:lnSpc>
                <a:spcPct val="150000"/>
              </a:lnSpc>
            </a:pPr>
            <a:r>
              <a:rPr lang="ko-KR" altLang="en-US" noProof="0">
                <a:cs typeface="Calibri"/>
              </a:rPr>
              <a:t>주제 </a:t>
            </a:r>
            <a:r>
              <a:rPr lang="en-US" altLang="ko-KR" noProof="0">
                <a:cs typeface="Calibri"/>
              </a:rPr>
              <a:t>4</a:t>
            </a:r>
            <a:endParaRPr lang="ko-KR" altLang="en-US" noProof="0">
              <a:cs typeface="Calibri"/>
            </a:endParaRPr>
          </a:p>
          <a:p>
            <a:pPr rtl="0"/>
            <a:endParaRPr lang="ko-KR" altLang="en-US" noProof="0">
              <a:solidFill>
                <a:schemeClr val="tx1"/>
              </a:solidFill>
            </a:endParaRPr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56500" y="641350"/>
            <a:ext cx="3999230" cy="2626995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5230" y="3606165"/>
            <a:ext cx="4000500" cy="260858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304C15-0285-4F2C-8EFE-569AD8088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5815" y="808990"/>
            <a:ext cx="5943600" cy="5239385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A88504-58DC-4D6A-A3A2-46BBE92E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495" y="640715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날짜 개체 틀 17">
            <a:extLst>
              <a:ext uri="{FF2B5EF4-FFF2-40B4-BE49-F238E27FC236}">
                <a16:creationId xmlns:a16="http://schemas.microsoft.com/office/drawing/2014/main" id="{A7F1F606-F241-4665-957D-1EA108900290}"/>
              </a:ext>
            </a:extLst>
          </p:cNvPr>
          <p:cNvSpPr txBox="1">
            <a:spLocks/>
          </p:cNvSpPr>
          <p:nvPr userDrawn="1"/>
        </p:nvSpPr>
        <p:spPr>
          <a:xfrm>
            <a:off x="3000375" y="687070"/>
            <a:ext cx="1554480" cy="5270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>
              <a:defRPr/>
            </a:pPr>
            <a:r>
              <a:rPr lang="en-US" altLang="ko-KR" sz="1300" noProof="0" dirty="0">
                <a:solidFill>
                  <a:schemeClr val="bg1"/>
                </a:solidFill>
                <a:latin typeface="+mj-ea"/>
                <a:ea typeface="+mj-ea"/>
              </a:rPr>
              <a:t>20XX</a:t>
            </a:r>
            <a:r>
              <a:rPr lang="ko-KR" altLang="en-US" sz="1300" noProof="0" dirty="0">
                <a:solidFill>
                  <a:schemeClr val="bg1"/>
                </a:solidFill>
                <a:latin typeface="+mj-ea"/>
                <a:ea typeface="+mj-ea"/>
              </a:rPr>
              <a:t>년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6EAC8BD-D27F-41DF-AA93-5F967582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31795" y="640715"/>
            <a:ext cx="1691640" cy="645160"/>
            <a:chOff x="2931795" y="640715"/>
            <a:chExt cx="1691640" cy="645160"/>
          </a:xfrm>
        </p:grpSpPr>
        <p:cxnSp>
          <p:nvCxnSpPr>
            <p:cNvPr id="11" name="직선 연결선(S) 10">
              <a:extLst>
                <a:ext uri="{FF2B5EF4-FFF2-40B4-BE49-F238E27FC236}">
                  <a16:creationId xmlns:a16="http://schemas.microsoft.com/office/drawing/2014/main" id="{29CEAE44-9527-4308-A77C-6C47315A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1795" y="64071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1BD50130-2E7D-4DC0-8382-B3958A945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623435" y="64071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(S) 13">
              <a:extLst>
                <a:ext uri="{FF2B5EF4-FFF2-40B4-BE49-F238E27FC236}">
                  <a16:creationId xmlns:a16="http://schemas.microsoft.com/office/drawing/2014/main" id="{6955D961-339B-49BE-9281-3A8E81953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1795" y="1285875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바닥글 개체 틀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330" y="5641340"/>
            <a:ext cx="5068570" cy="310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>
              <a:defRPr/>
            </a:pPr>
            <a:r>
              <a:rPr lang="ko-KR" altLang="en-US" noProof="0" dirty="0">
                <a:solidFill>
                  <a:schemeClr val="bg1"/>
                </a:solidFill>
                <a:latin typeface="+mj-ea"/>
                <a:ea typeface="+mj-ea"/>
              </a:rPr>
              <a:t>샘플 바닥글 텍스트</a:t>
            </a:r>
          </a:p>
        </p:txBody>
      </p:sp>
      <p:sp>
        <p:nvSpPr>
          <p:cNvPr id="18" name="슬라이드 번호 개체 틀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20" y="6392545"/>
            <a:ext cx="2112010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rtl="0">
              <a:defRPr/>
            </a:pPr>
            <a:fld id="{70B1FE82-5036-4003-B709-0840DA750BBE}" type="slidenum">
              <a:rPr lang="en-US" altLang="ko-KR" noProof="0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latin typeface="+mj-ea"/>
                <a:ea typeface="+mj-ea"/>
              </a:rPr>
              <a:pPr defTabSz="914400">
                <a:defRPr/>
              </a:pPr>
              <a:t>‹#›</a:t>
            </a:fld>
            <a:endParaRPr lang="ko-KR" altLang="en-US" noProof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763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6800" y="642620"/>
            <a:ext cx="10059035" cy="1372235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66800" y="2103120"/>
            <a:ext cx="10059035" cy="3850005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7235" cy="366395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256780" y="6035040"/>
            <a:ext cx="2893695" cy="366395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835" cy="366395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20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5B0C2F6-1B8C-43CC-92A5-2D5502929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983D5E-8A96-4276-9D60-66D16276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057275"/>
            <a:ext cx="10366743" cy="1235895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4707CC-694D-4162-B68A-B7D9345B3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079F8F29-0E9E-49F7-93F4-FCC8C82EE1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884815"/>
            <a:ext cx="2279650" cy="255270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5" name="텍스트 개체 틀 27">
            <a:extLst>
              <a:ext uri="{FF2B5EF4-FFF2-40B4-BE49-F238E27FC236}">
                <a16:creationId xmlns:a16="http://schemas.microsoft.com/office/drawing/2014/main" id="{9925214F-17A5-4C60-AADE-6A1BC12989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26" name="텍스트 개체 틀 27">
            <a:extLst>
              <a:ext uri="{FF2B5EF4-FFF2-40B4-BE49-F238E27FC236}">
                <a16:creationId xmlns:a16="http://schemas.microsoft.com/office/drawing/2014/main" id="{10700E3A-7CD7-4A3D-BA94-0E5BCAC92A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22" name="그림 개체 틀 20">
            <a:extLst>
              <a:ext uri="{FF2B5EF4-FFF2-40B4-BE49-F238E27FC236}">
                <a16:creationId xmlns:a16="http://schemas.microsoft.com/office/drawing/2014/main" id="{2E6EB481-2A99-4088-95C0-0D5BAFDFF0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96066" y="2884815"/>
            <a:ext cx="2279650" cy="255270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7" name="텍스트 개체 틀 27">
            <a:extLst>
              <a:ext uri="{FF2B5EF4-FFF2-40B4-BE49-F238E27FC236}">
                <a16:creationId xmlns:a16="http://schemas.microsoft.com/office/drawing/2014/main" id="{4097BC1F-331F-4D57-993D-EFBB792275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6067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DCC61962-73A1-4768-8408-43E07ED2C1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96067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36" name="바닥글 개체 틀 4">
            <a:extLst>
              <a:ext uri="{FF2B5EF4-FFF2-40B4-BE49-F238E27FC236}">
                <a16:creationId xmlns:a16="http://schemas.microsoft.com/office/drawing/2014/main" id="{8013A142-804D-471C-B2DD-DEC1B8C5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095" y="6296388"/>
            <a:ext cx="5816600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23" name="그림 개체 틀 20">
            <a:extLst>
              <a:ext uri="{FF2B5EF4-FFF2-40B4-BE49-F238E27FC236}">
                <a16:creationId xmlns:a16="http://schemas.microsoft.com/office/drawing/2014/main" id="{A231814F-4139-4547-9058-18BF9C9E8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532" y="2884815"/>
            <a:ext cx="2279650" cy="255270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9" name="텍스트 개체 틀 27">
            <a:extLst>
              <a:ext uri="{FF2B5EF4-FFF2-40B4-BE49-F238E27FC236}">
                <a16:creationId xmlns:a16="http://schemas.microsoft.com/office/drawing/2014/main" id="{A6CD17BC-BF82-4EF5-8F4B-8D615A2FD2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2535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30" name="텍스트 개체 틀 27">
            <a:extLst>
              <a:ext uri="{FF2B5EF4-FFF2-40B4-BE49-F238E27FC236}">
                <a16:creationId xmlns:a16="http://schemas.microsoft.com/office/drawing/2014/main" id="{CA5F4D35-7EF1-463D-8005-F3950B6541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82535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24" name="그림 개체 틀 20">
            <a:extLst>
              <a:ext uri="{FF2B5EF4-FFF2-40B4-BE49-F238E27FC236}">
                <a16:creationId xmlns:a16="http://schemas.microsoft.com/office/drawing/2014/main" id="{6CDB3226-AAE1-4106-A166-12BCFA73DA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9001" y="2884815"/>
            <a:ext cx="2279650" cy="255270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31" name="텍스트 개체 틀 27">
            <a:extLst>
              <a:ext uri="{FF2B5EF4-FFF2-40B4-BE49-F238E27FC236}">
                <a16:creationId xmlns:a16="http://schemas.microsoft.com/office/drawing/2014/main" id="{C3CD8083-90C5-4685-A286-1A99E5DC31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69002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5FB222BC-D05B-4E76-A0DC-25657322AF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9002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ko-KR" altLang="en-US" noProof="0"/>
              <a:t>편집하려면 클릭하세요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4D6FBB75-8D79-4225-A448-37C04F053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92658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D4C41CC5-2A7C-4774-98CE-C7212DFD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9124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(S) 10">
            <a:extLst>
              <a:ext uri="{FF2B5EF4-FFF2-40B4-BE49-F238E27FC236}">
                <a16:creationId xmlns:a16="http://schemas.microsoft.com/office/drawing/2014/main" id="{A2861725-0EF3-4133-B06C-063F42B1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965590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날짜 개체 틀 3">
            <a:extLst>
              <a:ext uri="{FF2B5EF4-FFF2-40B4-BE49-F238E27FC236}">
                <a16:creationId xmlns:a16="http://schemas.microsoft.com/office/drawing/2014/main" id="{7FDBCC4A-1C49-4C93-AD45-AD78087E23D6}"/>
              </a:ext>
            </a:extLst>
          </p:cNvPr>
          <p:cNvSpPr txBox="1">
            <a:spLocks/>
          </p:cNvSpPr>
          <p:nvPr userDrawn="1"/>
        </p:nvSpPr>
        <p:spPr>
          <a:xfrm>
            <a:off x="7684497" y="6296388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altLang="ko-KR" noProof="0">
                <a:latin typeface="+mj-ea"/>
                <a:ea typeface="+mj-ea"/>
              </a:rPr>
              <a:t>20XX</a:t>
            </a:r>
            <a:r>
              <a:rPr lang="ko-KR" altLang="en-US" noProof="0">
                <a:latin typeface="+mj-ea"/>
                <a:ea typeface="+mj-ea"/>
              </a:rPr>
              <a:t>년</a:t>
            </a:r>
          </a:p>
        </p:txBody>
      </p:sp>
      <p:sp>
        <p:nvSpPr>
          <p:cNvPr id="37" name="슬라이드 번호 개체 틀 5">
            <a:extLst>
              <a:ext uri="{FF2B5EF4-FFF2-40B4-BE49-F238E27FC236}">
                <a16:creationId xmlns:a16="http://schemas.microsoft.com/office/drawing/2014/main" id="{5EB09A52-50AB-4593-BCB7-23D4AEC8850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537721" y="6286556"/>
            <a:ext cx="838200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5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C4A46BB-9B50-4F09-9059-DA78048129D4}"/>
              </a:ext>
            </a:extLst>
          </p:cNvPr>
          <p:cNvSpPr/>
          <p:nvPr userDrawn="1"/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793" y="2735221"/>
            <a:ext cx="4775075" cy="85121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편집하려면 클릭하세요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DF1FF2-5B9A-4BE9-AD3C-F215F0D25F7A}"/>
              </a:ext>
            </a:extLst>
          </p:cNvPr>
          <p:cNvSpPr/>
          <p:nvPr userDrawn="1"/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04FC6A22-F9EC-4E20-B9CC-F012FA8E4C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33793" y="3995988"/>
            <a:ext cx="4775075" cy="559656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>
                <a:solidFill>
                  <a:schemeClr val="tx1"/>
                </a:solidFill>
              </a:rPr>
              <a:t>부제목</a:t>
            </a:r>
          </a:p>
        </p:txBody>
      </p:sp>
      <p:sp>
        <p:nvSpPr>
          <p:cNvPr id="10" name="날짜 개체 틀 17">
            <a:extLst>
              <a:ext uri="{FF2B5EF4-FFF2-40B4-BE49-F238E27FC236}">
                <a16:creationId xmlns:a16="http://schemas.microsoft.com/office/drawing/2014/main" id="{ABF19E1F-D7E9-4D44-9873-8D8DDC338F7E}"/>
              </a:ext>
            </a:extLst>
          </p:cNvPr>
          <p:cNvSpPr txBox="1">
            <a:spLocks/>
          </p:cNvSpPr>
          <p:nvPr userDrawn="1"/>
        </p:nvSpPr>
        <p:spPr>
          <a:xfrm>
            <a:off x="7369770" y="2040249"/>
            <a:ext cx="2103120" cy="3152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>
              <a:defRPr/>
            </a:pPr>
            <a:r>
              <a:rPr lang="en-US" altLang="ko-KR" sz="1300" noProof="0">
                <a:solidFill>
                  <a:schemeClr val="bg1"/>
                </a:solidFill>
                <a:latin typeface="+mj-ea"/>
                <a:ea typeface="+mj-ea"/>
              </a:rPr>
              <a:t>20XX</a:t>
            </a:r>
            <a:r>
              <a:rPr lang="ko-KR" altLang="en-US" sz="1300" noProof="0">
                <a:solidFill>
                  <a:schemeClr val="bg1"/>
                </a:solidFill>
                <a:latin typeface="+mj-ea"/>
                <a:ea typeface="+mj-ea"/>
              </a:rPr>
              <a:t>년</a:t>
            </a:r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93C72E99-B7BE-4F82-AD93-38765570D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695067 w 12192000"/>
              <a:gd name="connsiteY0" fmla="*/ 1808532 h 6858000"/>
              <a:gd name="connsiteX1" fmla="*/ 5695067 w 12192000"/>
              <a:gd name="connsiteY1" fmla="*/ 5049468 h 6858000"/>
              <a:gd name="connsiteX2" fmla="*/ 11147594 w 12192000"/>
              <a:gd name="connsiteY2" fmla="*/ 5049468 h 6858000"/>
              <a:gd name="connsiteX3" fmla="*/ 11147594 w 12192000"/>
              <a:gd name="connsiteY3" fmla="*/ 180853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695067" y="1808532"/>
                </a:moveTo>
                <a:lnTo>
                  <a:pt x="5695067" y="5049468"/>
                </a:lnTo>
                <a:lnTo>
                  <a:pt x="11147594" y="5049468"/>
                </a:lnTo>
                <a:lnTo>
                  <a:pt x="11147594" y="180853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26465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요약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49982C2-1320-41E5-A31C-D8DA5C8A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563FB1-76A9-4E53-9493-2B8680D68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" y="0"/>
            <a:ext cx="46511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3175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8F116A-4F5C-40E2-836F-919B8B93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2" y="4123592"/>
            <a:ext cx="4654296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27D978-81FB-4612-81AA-B7123E0D5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0"/>
            <a:ext cx="91440" cy="42062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0DC717-7560-4850-A68A-A881C97F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2057400"/>
            <a:ext cx="2377440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F22527-F181-4C80-9977-C9894355C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028" y="971453"/>
            <a:ext cx="5623560" cy="4910328"/>
          </a:xfrm>
          <a:prstGeom prst="rect">
            <a:avLst/>
          </a:prstGeom>
          <a:noFill/>
          <a:ln w="6350" cap="sq" cmpd="sng" algn="ctr">
            <a:solidFill>
              <a:schemeClr val="bg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ABAC30-6A2F-4907-8502-17DF9AEE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8300" y="806861"/>
            <a:ext cx="5955017" cy="523951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3C9F96-79A7-44FA-A7FE-C0675B99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1" y="1290294"/>
            <a:ext cx="5116286" cy="137160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18" name="부제목 2">
            <a:extLst>
              <a:ext uri="{FF2B5EF4-FFF2-40B4-BE49-F238E27FC236}">
                <a16:creationId xmlns:a16="http://schemas.microsoft.com/office/drawing/2014/main" id="{D72D6334-ED49-4D79-AAC2-10DCFF6D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1" y="2980736"/>
            <a:ext cx="5116286" cy="2712494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sz="1800" noProof="0">
                <a:solidFill>
                  <a:schemeClr val="bg1">
                    <a:lumMod val="85000"/>
                    <a:lumOff val="15000"/>
                  </a:schemeClr>
                </a:solidFill>
              </a:rPr>
              <a:t>클릭하여 마스터 부제목 스타일 편집</a:t>
            </a:r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0FE3A1CC-4DE8-4FC6-839D-CD3607B8D426}"/>
              </a:ext>
            </a:extLst>
          </p:cNvPr>
          <p:cNvSpPr txBox="1">
            <a:spLocks/>
          </p:cNvSpPr>
          <p:nvPr userDrawn="1"/>
        </p:nvSpPr>
        <p:spPr>
          <a:xfrm>
            <a:off x="7048099" y="302355"/>
            <a:ext cx="2743200" cy="3507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n-US" altLang="ko-KR" noProof="0">
                <a:latin typeface="+mj-ea"/>
                <a:ea typeface="+mj-ea"/>
              </a:rPr>
              <a:t>20XX</a:t>
            </a:r>
            <a:r>
              <a:rPr lang="ko-KR" altLang="en-US" noProof="0">
                <a:latin typeface="+mj-ea"/>
                <a:ea typeface="+mj-ea"/>
              </a:rPr>
              <a:t>년</a:t>
            </a:r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C9E9A7CA-EE9C-4648-8016-1852440461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5438" y="326697"/>
            <a:ext cx="1636712" cy="3475163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F4561B6B-E204-4CF0-AD12-ED21B3940F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9863" y="329773"/>
            <a:ext cx="1614487" cy="1394251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B3BE441E-0CE9-4C44-8783-3A04F5929F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7163" y="2384425"/>
            <a:ext cx="1628775" cy="1423988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8" name="그림 개체 틀 27">
            <a:extLst>
              <a:ext uri="{FF2B5EF4-FFF2-40B4-BE49-F238E27FC236}">
                <a16:creationId xmlns:a16="http://schemas.microsoft.com/office/drawing/2014/main" id="{FBAA901D-39FD-416F-B2B4-F2651AB791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438" y="4527550"/>
            <a:ext cx="3998912" cy="200025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4C182815-90D1-446C-BC70-6AB00BED68ED}"/>
              </a:ext>
            </a:extLst>
          </p:cNvPr>
          <p:cNvSpPr txBox="1">
            <a:spLocks/>
          </p:cNvSpPr>
          <p:nvPr userDrawn="1"/>
        </p:nvSpPr>
        <p:spPr>
          <a:xfrm>
            <a:off x="5077003" y="6367925"/>
            <a:ext cx="44805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rtl="0">
              <a:defRPr/>
            </a:pPr>
            <a:r>
              <a:rPr lang="ko-KR" altLang="en-US" noProof="0">
                <a:solidFill>
                  <a:srgbClr val="FFFFFF"/>
                </a:solidFill>
                <a:latin typeface="+mj-ea"/>
                <a:ea typeface="+mj-ea"/>
              </a:rPr>
              <a:t>샘플 바닥글 텍스트</a:t>
            </a:r>
          </a:p>
        </p:txBody>
      </p:sp>
      <p:sp>
        <p:nvSpPr>
          <p:cNvPr id="20" name="슬라이드 번호 개체 틀 5">
            <a:extLst>
              <a:ext uri="{FF2B5EF4-FFF2-40B4-BE49-F238E27FC236}">
                <a16:creationId xmlns:a16="http://schemas.microsoft.com/office/drawing/2014/main" id="{69BDEE55-B4D3-4542-BF01-F05A2C1FB7D6}"/>
              </a:ext>
            </a:extLst>
          </p:cNvPr>
          <p:cNvSpPr txBox="1">
            <a:spLocks/>
          </p:cNvSpPr>
          <p:nvPr userDrawn="1"/>
        </p:nvSpPr>
        <p:spPr>
          <a:xfrm>
            <a:off x="9793460" y="6367925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4FAB73BC-B049-4115-A692-8D63A059BFB8}" type="slidenum">
              <a:rPr lang="en-US" altLang="ko-KR" noProof="0" smtClean="0">
                <a:latin typeface="+mj-ea"/>
                <a:ea typeface="+mj-ea"/>
              </a:rPr>
              <a:pPr/>
              <a:t>‹#›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2201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5973E97-A796-4836-82F6-8A280A57BA6B}"/>
              </a:ext>
            </a:extLst>
          </p:cNvPr>
          <p:cNvSpPr/>
          <p:nvPr userDrawn="1"/>
        </p:nvSpPr>
        <p:spPr>
          <a:xfrm>
            <a:off x="5660390" y="0"/>
            <a:ext cx="652907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C0DAEE-CCDB-4627-925B-879F83B1F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4130" y="610235"/>
            <a:ext cx="5103495" cy="1371600"/>
          </a:xfrm>
        </p:spPr>
        <p:txBody>
          <a:bodyPr rtlCol="0">
            <a:normAutofit/>
          </a:bodyPr>
          <a:lstStyle>
            <a:lvl1pPr>
              <a:defRPr sz="4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편집하려면 클릭하세요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9F23A9-0519-4A39-A9F9-F965C17D58A0}"/>
              </a:ext>
            </a:extLst>
          </p:cNvPr>
          <p:cNvSpPr/>
          <p:nvPr userDrawn="1"/>
        </p:nvSpPr>
        <p:spPr>
          <a:xfrm>
            <a:off x="5981700" y="320040"/>
            <a:ext cx="5888990" cy="621792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F3EB17D9-2389-4D1F-AC98-7CC3F79840B2}"/>
              </a:ext>
            </a:extLst>
          </p:cNvPr>
          <p:cNvSpPr txBox="1">
            <a:spLocks/>
          </p:cNvSpPr>
          <p:nvPr userDrawn="1"/>
        </p:nvSpPr>
        <p:spPr>
          <a:xfrm>
            <a:off x="7554595" y="383540"/>
            <a:ext cx="2743200" cy="2559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n-US" altLang="ko-KR" noProof="0">
                <a:solidFill>
                  <a:schemeClr val="bg1"/>
                </a:solidFill>
                <a:latin typeface="+mj-ea"/>
                <a:ea typeface="+mj-ea"/>
              </a:rPr>
              <a:t>20XX</a:t>
            </a:r>
            <a:r>
              <a:rPr lang="ko-KR" altLang="en-US" noProof="0">
                <a:solidFill>
                  <a:schemeClr val="bg1"/>
                </a:solidFill>
                <a:latin typeface="+mj-ea"/>
                <a:ea typeface="+mj-ea"/>
              </a:rPr>
              <a:t>년</a:t>
            </a:r>
          </a:p>
        </p:txBody>
      </p:sp>
      <p:sp>
        <p:nvSpPr>
          <p:cNvPr id="11" name="바닥글 개체 틀 7">
            <a:extLst>
              <a:ext uri="{FF2B5EF4-FFF2-40B4-BE49-F238E27FC236}">
                <a16:creationId xmlns:a16="http://schemas.microsoft.com/office/drawing/2014/main" id="{40E55EFF-7AC0-4ACD-B826-CA1E384CCF4C}"/>
              </a:ext>
            </a:extLst>
          </p:cNvPr>
          <p:cNvSpPr txBox="1">
            <a:spLocks/>
          </p:cNvSpPr>
          <p:nvPr userDrawn="1"/>
        </p:nvSpPr>
        <p:spPr>
          <a:xfrm>
            <a:off x="6303645" y="6214745"/>
            <a:ext cx="4697095" cy="2559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ko-KR" altLang="en-US" noProof="0">
                <a:solidFill>
                  <a:schemeClr val="bg1"/>
                </a:solidFill>
                <a:latin typeface="+mj-ea"/>
                <a:ea typeface="+mj-ea"/>
              </a:rPr>
              <a:t>샘플 바닥글 텍스트</a:t>
            </a:r>
          </a:p>
        </p:txBody>
      </p:sp>
      <p:sp>
        <p:nvSpPr>
          <p:cNvPr id="12" name="슬라이드 번호 개체 틀 8">
            <a:extLst>
              <a:ext uri="{FF2B5EF4-FFF2-40B4-BE49-F238E27FC236}">
                <a16:creationId xmlns:a16="http://schemas.microsoft.com/office/drawing/2014/main" id="{C6C2D606-DD47-4DA7-AF9B-9A8E401BCAFF}"/>
              </a:ext>
            </a:extLst>
          </p:cNvPr>
          <p:cNvSpPr txBox="1">
            <a:spLocks/>
          </p:cNvSpPr>
          <p:nvPr userDrawn="1"/>
        </p:nvSpPr>
        <p:spPr>
          <a:xfrm>
            <a:off x="11104245" y="6214745"/>
            <a:ext cx="605155" cy="2559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34B7E4EF-A1BD-40F4-AB7B-04F084DD991D}" type="slidenum">
              <a:rPr lang="en-US" altLang="ko-KR" noProof="0" smtClean="0">
                <a:solidFill>
                  <a:schemeClr val="bg1"/>
                </a:solidFill>
                <a:latin typeface="+mj-ea"/>
                <a:ea typeface="+mj-ea"/>
              </a:rPr>
              <a:pPr/>
              <a:t>‹#›</a:t>
            </a:fld>
            <a:endParaRPr lang="ko-KR" altLang="en-US" noProof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6623DC60-EE1A-4367-A357-5F11D9422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9755" cy="685800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095E6F1-8633-46DB-A612-89A5079F7EF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72860" y="2108835"/>
            <a:ext cx="5103495" cy="379095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12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4342A2-B2E9-4AE9-9AFD-C5F77777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86CEFC-AE66-4E11-8B5A-880177E1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737" y="621793"/>
            <a:ext cx="6651809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158" y="2100942"/>
            <a:ext cx="5716339" cy="2290607"/>
          </a:xfrm>
        </p:spPr>
        <p:txBody>
          <a:bodyPr rtlCol="0" anchor="b"/>
          <a:lstStyle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편집하려면 클릭하세요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B1E9D9-0DDD-4554-A021-4FE50439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3061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날짜 개체 틀 17">
            <a:extLst>
              <a:ext uri="{FF2B5EF4-FFF2-40B4-BE49-F238E27FC236}">
                <a16:creationId xmlns:a16="http://schemas.microsoft.com/office/drawing/2014/main" id="{3B5075EC-8E09-4BB4-8C8F-6177ECD9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5941" y="493108"/>
            <a:ext cx="1554480" cy="527213"/>
          </a:xfrm>
        </p:spPr>
        <p:txBody>
          <a:bodyPr rtlCol="0"/>
          <a:lstStyle>
            <a:lvl1pPr>
              <a:defRPr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algn="ctr" defTabSz="914400">
              <a:defRPr/>
            </a:pPr>
            <a:r>
              <a:rPr lang="en-US" altLang="ko-KR" sz="1300"/>
              <a:t>20XX</a:t>
            </a:r>
            <a:endParaRPr lang="ko-KR" altLang="en-US" sz="130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A8819A-9552-4858-92F8-FB441C3A45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8157" y="4698173"/>
            <a:ext cx="5716339" cy="658674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dirty="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274320" indent="0">
              <a:buNone/>
              <a:defRPr/>
            </a:lvl2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바닥글 개체 틀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 rtl="0">
              <a:defRPr/>
            </a:pPr>
            <a:r>
              <a:rPr lang="ko-KR" altLang="en-US" noProof="0">
                <a:solidFill>
                  <a:schemeClr val="bg1"/>
                </a:solidFill>
                <a:latin typeface="+mj-ea"/>
                <a:ea typeface="+mj-ea"/>
              </a:rPr>
              <a:t>샘플 바닥글 텍스트</a:t>
            </a:r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4" y="621784"/>
            <a:ext cx="1989495" cy="2843222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37" name="그림 개체 틀 21">
            <a:extLst>
              <a:ext uri="{FF2B5EF4-FFF2-40B4-BE49-F238E27FC236}">
                <a16:creationId xmlns:a16="http://schemas.microsoft.com/office/drawing/2014/main" id="{F268C43A-0DA4-4ECC-A368-08AB69EDAE7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0334" y="627380"/>
            <a:ext cx="1980056" cy="2837626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2093" y="3636193"/>
            <a:ext cx="4123320" cy="2594427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7F02ED2-9B1A-40C8-A5F7-4473CAA3C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37361" y="446823"/>
            <a:ext cx="1691640" cy="645295"/>
            <a:chOff x="3137361" y="446823"/>
            <a:chExt cx="1691640" cy="645295"/>
          </a:xfrm>
        </p:grpSpPr>
        <p:cxnSp>
          <p:nvCxnSpPr>
            <p:cNvPr id="25" name="직선 연결선(S) 24">
              <a:extLst>
                <a:ext uri="{FF2B5EF4-FFF2-40B4-BE49-F238E27FC236}">
                  <a16:creationId xmlns:a16="http://schemas.microsoft.com/office/drawing/2014/main" id="{ED8AC6A1-19DE-4EAE-91E5-A9E82CEA3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(S) 26">
              <a:extLst>
                <a:ext uri="{FF2B5EF4-FFF2-40B4-BE49-F238E27FC236}">
                  <a16:creationId xmlns:a16="http://schemas.microsoft.com/office/drawing/2014/main" id="{29AC828E-AA99-4E2C-A30C-D8B9DFF16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82900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(S) 27">
              <a:extLst>
                <a:ext uri="{FF2B5EF4-FFF2-40B4-BE49-F238E27FC236}">
                  <a16:creationId xmlns:a16="http://schemas.microsoft.com/office/drawing/2014/main" id="{762D63C1-826F-42FC-9EC1-0320620BB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1092118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슬라이드 번호 개체 틀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rtl="0">
              <a:defRPr/>
            </a:pPr>
            <a:fld id="{70B1FE82-5036-4003-B709-0840DA750BBE}" type="slidenum">
              <a:rPr lang="en-US" altLang="ko-KR" noProof="0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latin typeface="+mj-ea"/>
                <a:ea typeface="+mj-ea"/>
              </a:rPr>
              <a:pPr defTabSz="914400">
                <a:defRPr/>
              </a:pPr>
              <a:t>‹#›</a:t>
            </a:fld>
            <a:endParaRPr lang="ko-KR" altLang="en-US" noProof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126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ED0543DF-8CFA-4CBD-AF23-D059985D34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7329 w 12192000"/>
              <a:gd name="connsiteY0" fmla="*/ 941695 h 6858000"/>
              <a:gd name="connsiteX1" fmla="*/ 937329 w 12192000"/>
              <a:gd name="connsiteY1" fmla="*/ 5916305 h 6858000"/>
              <a:gd name="connsiteX2" fmla="*/ 6389856 w 12192000"/>
              <a:gd name="connsiteY2" fmla="*/ 5916305 h 6858000"/>
              <a:gd name="connsiteX3" fmla="*/ 6389856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7329" y="941695"/>
                </a:moveTo>
                <a:lnTo>
                  <a:pt x="937329" y="5916305"/>
                </a:lnTo>
                <a:lnTo>
                  <a:pt x="6389856" y="5916305"/>
                </a:lnTo>
                <a:lnTo>
                  <a:pt x="6389856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1A2AD8-D5EA-48FD-B19E-788E4D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682D9D6-0C91-4BAA-B631-B4A597F6D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7950" y="2197853"/>
            <a:ext cx="4633415" cy="85121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편집하려면 클릭하세요</a:t>
            </a:r>
          </a:p>
        </p:txBody>
      </p:sp>
      <p:sp>
        <p:nvSpPr>
          <p:cNvPr id="25" name="날짜 개체 틀 7">
            <a:extLst>
              <a:ext uri="{FF2B5EF4-FFF2-40B4-BE49-F238E27FC236}">
                <a16:creationId xmlns:a16="http://schemas.microsoft.com/office/drawing/2014/main" id="{53A572F0-78E4-4979-BD85-E9F315B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1992" y="1162386"/>
            <a:ext cx="2743200" cy="2560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6F1164-CE64-4728-83B0-E5316C16DF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357313" y="3308350"/>
            <a:ext cx="4633912" cy="2141632"/>
          </a:xfrm>
        </p:spPr>
        <p:txBody>
          <a:bodyPr rtlCol="0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274320" indent="0" algn="ctr">
              <a:buNone/>
              <a:defRPr baseline="0">
                <a:solidFill>
                  <a:schemeClr val="bg1"/>
                </a:solidFill>
                <a:latin typeface="+mj-ea"/>
                <a:ea typeface="+mj-ea"/>
              </a:defRPr>
            </a:lvl2pPr>
            <a:lvl3pPr marL="548640" indent="0">
              <a:buNone/>
              <a:defRPr>
                <a:solidFill>
                  <a:schemeClr val="bg1"/>
                </a:solidFill>
              </a:defRPr>
            </a:lvl3pPr>
            <a:lvl4pPr marL="822960" indent="0">
              <a:buNone/>
              <a:defRPr>
                <a:solidFill>
                  <a:schemeClr val="bg1"/>
                </a:solidFill>
              </a:defRPr>
            </a:lvl4pPr>
            <a:lvl5pPr marL="10972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endParaRPr lang="ko-KR" altLang="en-US" noProof="0"/>
          </a:p>
        </p:txBody>
      </p:sp>
      <p:sp>
        <p:nvSpPr>
          <p:cNvPr id="27" name="바닥글 개체 틀 8">
            <a:extLst>
              <a:ext uri="{FF2B5EF4-FFF2-40B4-BE49-F238E27FC236}">
                <a16:creationId xmlns:a16="http://schemas.microsoft.com/office/drawing/2014/main" id="{DEA4EBDD-4088-4396-BD3F-3AB4BEFB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7950" y="5472763"/>
            <a:ext cx="4636008" cy="256032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</p:spTree>
    <p:extLst>
      <p:ext uri="{BB962C8B-B14F-4D97-AF65-F5344CB8AC3E}">
        <p14:creationId xmlns:p14="http://schemas.microsoft.com/office/powerpoint/2010/main" val="38489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90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64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3053588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1069848" y="2792472"/>
            <a:ext cx="3053588" cy="3163825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4569206" y="2074334"/>
            <a:ext cx="3053588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4569206" y="2792471"/>
            <a:ext cx="3053588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A6D68D58-C9C7-41A5-9F66-57C5771B39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8564" y="2073651"/>
            <a:ext cx="3053588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F3692324-6EEB-4C0A-BF90-7A27FBF6D7B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068564" y="2791788"/>
            <a:ext cx="3053588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76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43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17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샘플 바닥글 텍스트</a:t>
            </a: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894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그림 개체 틀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>
                <a:latin typeface="+mj-ea"/>
                <a:ea typeface="+mj-e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ko-KR"/>
              <a:t>20XX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r>
              <a:rPr lang="ko-KR" altLang="en-US">
                <a:latin typeface="+mj-ea"/>
                <a:ea typeface="+mj-ea"/>
              </a:rPr>
              <a:t>샘플 바닥글 텍스트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33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4950" y="237490"/>
            <a:ext cx="11722735" cy="6382385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직사각형 7"/>
          <p:cNvSpPr/>
          <p:nvPr/>
        </p:nvSpPr>
        <p:spPr>
          <a:xfrm>
            <a:off x="372110" y="374650"/>
            <a:ext cx="11448415" cy="610806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6800" y="642620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256780" y="6035040"/>
            <a:ext cx="289306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EB91C115-B4D8-441F-A0E0-7319D49BEC9E}" type="datetime1">
              <a:rPr lang="ko-KR" altLang="en-US" smtClean="0"/>
              <a:pPr/>
              <a:t>2025-05-29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>
                <a:latin typeface="+mj-ea"/>
                <a:ea typeface="+mj-ea"/>
              </a:rPr>
              <a:t>샘플 바닥글 텍스트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294A09A9-5501-47C1-A89A-A340965A2BE2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109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ea"/>
          <a:ea typeface="+mj-ea"/>
          <a:cs typeface="+mn-cs"/>
        </a:defRPr>
      </a:lvl1pPr>
    </p:titleStyle>
    <p:bodyStyle>
      <a:lvl1pPr marL="182880" indent="-182880" algn="l" defTabSz="914400" rtl="0" eaLnBrk="1" latinLnBrk="1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j-ea"/>
          <a:ea typeface="+mj-ea"/>
          <a:cs typeface="+mn-cs"/>
        </a:defRPr>
      </a:lvl2pPr>
      <a:lvl3pPr marL="73152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j-ea"/>
          <a:ea typeface="+mj-ea"/>
          <a:cs typeface="+mn-cs"/>
        </a:defRPr>
      </a:lvl3pPr>
      <a:lvl4pPr marL="100584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j-ea"/>
          <a:ea typeface="+mj-ea"/>
          <a:cs typeface="+mn-cs"/>
        </a:defRPr>
      </a:lvl4pPr>
      <a:lvl5pPr marL="128016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j-ea"/>
          <a:ea typeface="+mj-ea"/>
          <a:cs typeface="+mn-cs"/>
        </a:defRPr>
      </a:lvl5pPr>
      <a:lvl6pPr marL="16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410" y="2244725"/>
            <a:ext cx="8934450" cy="2437765"/>
          </a:xfr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r>
              <a:rPr lang="ko-KR" altLang="en-US" dirty="0" err="1">
                <a:latin typeface="맑은 고딕" charset="0"/>
                <a:ea typeface="맑은 고딕" charset="0"/>
              </a:rPr>
              <a:t>제로트러스트</a:t>
            </a:r>
            <a:endParaRPr lang="ko-KR" altLang="en-US" dirty="0">
              <a:latin typeface="맑은 고딕" charset="0"/>
              <a:ea typeface="맑은 고딕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4965" y="4166296"/>
            <a:ext cx="8937625" cy="1032387"/>
          </a:xfrm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rtl="0" latinLnBrk="0">
              <a:buFontTx/>
              <a:buNone/>
            </a:pPr>
            <a:r>
              <a:rPr lang="ko-KR" altLang="en-US" dirty="0">
                <a:latin typeface="맑은 고딕" charset="0"/>
                <a:ea typeface="맑은 고딕" charset="0"/>
              </a:rPr>
              <a:t>7조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marL="0" indent="0" rtl="0" latinLnBrk="0">
              <a:buFontTx/>
              <a:buNone/>
            </a:pPr>
            <a:endParaRPr lang="ko-KR" altLang="en-US" dirty="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제목 39"/>
          <p:cNvSpPr txBox="1">
            <a:spLocks noGrp="1"/>
          </p:cNvSpPr>
          <p:nvPr>
            <p:ph type="title"/>
          </p:nvPr>
        </p:nvSpPr>
        <p:spPr>
          <a:xfrm>
            <a:off x="805815" y="805815"/>
            <a:ext cx="5942965" cy="669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  <p:txBody>
          <a:bodyPr vert="horz" wrap="square" lIns="91440" tIns="45720" rIns="91440" bIns="45720" numCol="1" anchor="b">
            <a:normAutofit fontScale="90000"/>
          </a:bodyPr>
          <a:lstStyle/>
          <a:p>
            <a:pPr marL="0" indent="0" algn="l" rtl="0" latinLnBrk="0">
              <a:buFontTx/>
              <a:buNone/>
            </a:pPr>
            <a:r>
              <a:rPr lang="ko-KR" altLang="en-US">
                <a:latin typeface="맑은 고딕" charset="0"/>
                <a:ea typeface="맑은 고딕" charset="0"/>
              </a:rPr>
              <a:t>목차</a:t>
            </a:r>
          </a:p>
        </p:txBody>
      </p:sp>
      <p:sp>
        <p:nvSpPr>
          <p:cNvPr id="41" name="부제목 40"/>
          <p:cNvSpPr txBox="1">
            <a:spLocks noGrp="1"/>
          </p:cNvSpPr>
          <p:nvPr>
            <p:ph type="subTitle" idx="1"/>
          </p:nvPr>
        </p:nvSpPr>
        <p:spPr>
          <a:xfrm>
            <a:off x="1043940" y="1666240"/>
            <a:ext cx="5213985" cy="324231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1600" dirty="0">
                <a:latin typeface="+mj-ea"/>
                <a:ea typeface="+mj-ea"/>
              </a:rPr>
              <a:t>1. 경계 기반 보안 모델의 정의와 한계, 실제 사례</a:t>
            </a:r>
          </a:p>
          <a:p>
            <a:pPr marL="0" indent="0" algn="l" rtl="0" latinLnBrk="0">
              <a:buFontTx/>
              <a:buNone/>
            </a:pPr>
            <a:endParaRPr lang="ko-KR" altLang="en-US" sz="1600" dirty="0">
              <a:latin typeface="+mj-ea"/>
              <a:ea typeface="+mj-ea"/>
            </a:endParaRPr>
          </a:p>
          <a:p>
            <a:pPr marL="0" indent="0" algn="l" rtl="0" latinLnBrk="0">
              <a:buFontTx/>
              <a:buNone/>
            </a:pPr>
            <a:r>
              <a:rPr lang="en-US" altLang="ko-KR" sz="1600" dirty="0">
                <a:latin typeface="+mj-ea"/>
                <a:ea typeface="+mj-ea"/>
              </a:rPr>
              <a:t>2. </a:t>
            </a:r>
            <a:r>
              <a:rPr lang="en-US" altLang="ko-KR" sz="1600" dirty="0" err="1">
                <a:latin typeface="+mj-ea"/>
                <a:ea typeface="+mj-ea"/>
              </a:rPr>
              <a:t>제로트러스트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en-US" altLang="ko-KR" sz="1600" dirty="0" err="1">
                <a:latin typeface="+mj-ea"/>
                <a:ea typeface="+mj-ea"/>
              </a:rPr>
              <a:t>개념과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en-US" altLang="ko-KR" sz="1600" dirty="0" err="1">
                <a:latin typeface="+mj-ea"/>
                <a:ea typeface="+mj-ea"/>
              </a:rPr>
              <a:t>구성요소</a:t>
            </a:r>
            <a:endParaRPr lang="ko-KR" altLang="en-US" sz="1600" dirty="0">
              <a:latin typeface="+mj-ea"/>
              <a:ea typeface="+mj-ea"/>
            </a:endParaRPr>
          </a:p>
          <a:p>
            <a:pPr marL="0" indent="0" algn="l" rtl="0" latinLnBrk="0">
              <a:buFontTx/>
              <a:buNone/>
            </a:pPr>
            <a:endParaRPr lang="ko-KR" altLang="en-US" sz="1600" dirty="0">
              <a:latin typeface="+mj-ea"/>
              <a:ea typeface="+mj-ea"/>
            </a:endParaRPr>
          </a:p>
          <a:p>
            <a:pPr marL="0" indent="0" algn="l" rtl="0" latinLnBrk="0">
              <a:buFontTx/>
              <a:buNone/>
            </a:pPr>
            <a:r>
              <a:rPr lang="en-US" altLang="ko-KR" sz="1600" dirty="0">
                <a:latin typeface="+mj-ea"/>
                <a:ea typeface="+mj-ea"/>
              </a:rPr>
              <a:t>3. </a:t>
            </a:r>
            <a:r>
              <a:rPr lang="en-US" altLang="ko-KR" sz="1600" dirty="0" err="1">
                <a:latin typeface="+mj-ea"/>
                <a:ea typeface="+mj-ea"/>
              </a:rPr>
              <a:t>제로트러스트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en-US" altLang="ko-KR" sz="1600" dirty="0" err="1">
                <a:latin typeface="+mj-ea"/>
                <a:ea typeface="+mj-ea"/>
              </a:rPr>
              <a:t>기술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en-US" altLang="ko-KR" sz="1600" dirty="0" err="1">
                <a:latin typeface="+mj-ea"/>
                <a:ea typeface="+mj-ea"/>
              </a:rPr>
              <a:t>도입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en-US" altLang="ko-KR" sz="1600" dirty="0" err="1">
                <a:latin typeface="+mj-ea"/>
                <a:ea typeface="+mj-ea"/>
              </a:rPr>
              <a:t>후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en-US" altLang="ko-KR" sz="1600" dirty="0" err="1">
                <a:latin typeface="+mj-ea"/>
                <a:ea typeface="+mj-ea"/>
              </a:rPr>
              <a:t>효과</a:t>
            </a:r>
            <a:r>
              <a:rPr lang="en-US" altLang="ko-KR" sz="1600" dirty="0">
                <a:latin typeface="+mj-ea"/>
                <a:ea typeface="+mj-ea"/>
              </a:rPr>
              <a:t>,</a:t>
            </a:r>
            <a:r>
              <a:rPr lang="ko-KR" altLang="en-US" sz="1600" dirty="0">
                <a:latin typeface="+mj-ea"/>
                <a:ea typeface="+mj-ea"/>
              </a:rPr>
              <a:t> 예시</a:t>
            </a:r>
          </a:p>
          <a:p>
            <a:pPr marL="0" indent="0" algn="l" rtl="0" latinLnBrk="0">
              <a:buFontTx/>
              <a:buNone/>
            </a:pPr>
            <a:endParaRPr lang="ko-KR" altLang="en-US" sz="1600" dirty="0">
              <a:latin typeface="+mj-ea"/>
              <a:ea typeface="+mj-ea"/>
            </a:endParaRPr>
          </a:p>
          <a:p>
            <a:pPr marL="0" indent="0" algn="l" rtl="0" latinLnBrk="0">
              <a:buFontTx/>
              <a:buNone/>
            </a:pPr>
            <a:r>
              <a:rPr lang="ko-KR" altLang="en-US" sz="1600" dirty="0">
                <a:latin typeface="+mj-ea"/>
                <a:ea typeface="+mj-ea"/>
              </a:rPr>
              <a:t>4. </a:t>
            </a:r>
            <a:r>
              <a:rPr lang="ko-KR" altLang="en-US" sz="1600" dirty="0" err="1">
                <a:latin typeface="+mj-ea"/>
                <a:ea typeface="+mj-ea"/>
              </a:rPr>
              <a:t>제로트러스트</a:t>
            </a:r>
            <a:r>
              <a:rPr lang="ko-KR" altLang="en-US" sz="1600" dirty="0">
                <a:latin typeface="+mj-ea"/>
                <a:ea typeface="+mj-ea"/>
              </a:rPr>
              <a:t> 도입을 위한 선결과제 또는 해결책</a:t>
            </a:r>
          </a:p>
          <a:p>
            <a:pPr marL="0" indent="0" algn="l" rtl="0" latinLnBrk="0">
              <a:buFontTx/>
              <a:buNone/>
            </a:pPr>
            <a:endParaRPr lang="ko-KR" altLang="en-US" sz="1600" dirty="0">
              <a:latin typeface="+mj-ea"/>
              <a:ea typeface="+mj-ea"/>
            </a:endParaRPr>
          </a:p>
          <a:p>
            <a:pPr marL="0" indent="0" algn="l" rtl="0" latinLnBrk="0">
              <a:buFontTx/>
              <a:buNone/>
            </a:pPr>
            <a:r>
              <a:rPr lang="ko-KR" altLang="en-US" sz="1600" dirty="0">
                <a:latin typeface="+mj-ea"/>
                <a:ea typeface="+mj-ea"/>
              </a:rPr>
              <a:t>5. 결론 및 전망</a:t>
            </a:r>
          </a:p>
        </p:txBody>
      </p:sp>
      <p:pic>
        <p:nvPicPr>
          <p:cNvPr id="42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935" y="3681095"/>
            <a:ext cx="3965575" cy="2481580"/>
          </a:xfrm>
          <a:prstGeom prst="rect">
            <a:avLst/>
          </a:prstGeom>
          <a:noFill/>
        </p:spPr>
      </p:pic>
      <p:pic>
        <p:nvPicPr>
          <p:cNvPr id="43" name="그림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390" y="201295"/>
            <a:ext cx="4810125" cy="3425190"/>
          </a:xfrm>
          <a:prstGeom prst="rect">
            <a:avLst/>
          </a:prstGeom>
          <a:noFill/>
        </p:spPr>
      </p:pic>
      <p:sp>
        <p:nvSpPr>
          <p:cNvPr id="44" name="도형 4"/>
          <p:cNvSpPr>
            <a:spLocks/>
          </p:cNvSpPr>
          <p:nvPr/>
        </p:nvSpPr>
        <p:spPr>
          <a:xfrm>
            <a:off x="2938780" y="5622290"/>
            <a:ext cx="1850390" cy="311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>
            <a:solidFill>
              <a:schemeClr val="tx1">
                <a:lumMod val="75000"/>
                <a:lumOff val="2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595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586105" y="642620"/>
            <a:ext cx="10539730" cy="86868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ctr" rtl="0" latinLnBrk="0">
              <a:buFontTx/>
              <a:buNone/>
            </a:pPr>
            <a:r>
              <a:rPr lang="ko-KR" altLang="en-US" sz="2800" b="1" cap="none">
                <a:latin typeface="+mj-ea"/>
                <a:ea typeface="+mj-ea"/>
              </a:rPr>
              <a:t>경계 기반 보안 모델의 등장</a:t>
            </a: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3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7" name="텍스트 상자 16"/>
          <p:cNvSpPr txBox="1">
            <a:spLocks/>
          </p:cNvSpPr>
          <p:nvPr/>
        </p:nvSpPr>
        <p:spPr>
          <a:xfrm>
            <a:off x="5741670" y="1892300"/>
            <a:ext cx="5824855" cy="371221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과거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대부분의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기업은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단일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사무실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내부에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서버와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직원이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모여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있었고</a:t>
            </a:r>
            <a:r>
              <a:rPr dirty="0">
                <a:latin typeface="+mj-ea"/>
                <a:ea typeface="+mj-ea"/>
              </a:rPr>
              <a:t>, </a:t>
            </a:r>
            <a:r>
              <a:rPr dirty="0" err="1">
                <a:latin typeface="+mj-ea"/>
                <a:ea typeface="+mj-ea"/>
              </a:rPr>
              <a:t>데이터도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내부망에서만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처리되었기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때문에</a:t>
            </a:r>
            <a:r>
              <a:rPr dirty="0">
                <a:latin typeface="+mj-ea"/>
                <a:ea typeface="+mj-ea"/>
              </a:rPr>
              <a:t>, '</a:t>
            </a:r>
            <a:r>
              <a:rPr dirty="0" err="1">
                <a:latin typeface="+mj-ea"/>
                <a:ea typeface="+mj-ea"/>
              </a:rPr>
              <a:t>내부는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신뢰할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있고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외부는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위험하다'는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보안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철학이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일반적이었음</a:t>
            </a: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내부와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외부를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명확히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구분할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있었던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과거의</a:t>
            </a:r>
            <a:r>
              <a:rPr dirty="0">
                <a:latin typeface="+mj-ea"/>
                <a:ea typeface="+mj-ea"/>
              </a:rPr>
              <a:t> IT </a:t>
            </a:r>
            <a:r>
              <a:rPr dirty="0" err="1">
                <a:latin typeface="+mj-ea"/>
                <a:ea typeface="+mj-ea"/>
              </a:rPr>
              <a:t>환경에서</a:t>
            </a:r>
            <a:r>
              <a:rPr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경계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기반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보안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모델이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자연스럽게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등장</a:t>
            </a:r>
            <a:r>
              <a:rPr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8" name="도형 17"/>
          <p:cNvCxnSpPr/>
          <p:nvPr/>
        </p:nvCxnSpPr>
        <p:spPr>
          <a:xfrm flipH="1">
            <a:off x="8752840" y="2911475"/>
            <a:ext cx="10795" cy="98107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6" descr="C:/Users/82102/AppData/Roaming/PolarisOffice/ETemp/15824_17954912/fImage2263411104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9" b="1284"/>
          <a:stretch>
            <a:fillRect/>
          </a:stretch>
        </p:blipFill>
        <p:spPr>
          <a:xfrm>
            <a:off x="584200" y="1571625"/>
            <a:ext cx="4778375" cy="45440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586105" y="642620"/>
            <a:ext cx="10539730" cy="86868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  <a:cs typeface="+mn-cs"/>
              </a:rPr>
              <a:t>1. 경계 기반 보안 모델의 정의와 한계, 실제 사례</a:t>
            </a:r>
            <a:endParaRPr lang="ko-KR" altLang="en-US" sz="2000" b="1" cap="none" dirty="0">
              <a:solidFill>
                <a:schemeClr val="tx1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4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5026660" y="1794510"/>
            <a:ext cx="5742305" cy="251968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경계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기반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보안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모델은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흔히</a:t>
            </a:r>
            <a:r>
              <a:rPr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성벽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보안</a:t>
            </a:r>
            <a:r>
              <a:rPr dirty="0">
                <a:latin typeface="+mj-ea"/>
                <a:ea typeface="+mj-ea"/>
              </a:rPr>
              <a:t>(Castle-and-Moat)</a:t>
            </a:r>
            <a:r>
              <a:rPr dirty="0" err="1">
                <a:latin typeface="+mj-ea"/>
                <a:ea typeface="+mj-ea"/>
              </a:rPr>
              <a:t>으로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비유됨</a:t>
            </a: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정의</a:t>
            </a:r>
            <a:r>
              <a:rPr dirty="0">
                <a:latin typeface="+mj-ea"/>
                <a:ea typeface="+mj-ea"/>
              </a:rPr>
              <a:t> : </a:t>
            </a:r>
            <a:r>
              <a:rPr dirty="0" err="1">
                <a:latin typeface="+mj-ea"/>
                <a:ea typeface="+mj-ea"/>
              </a:rPr>
              <a:t>내부와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외부를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구분하는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경계를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설정하고</a:t>
            </a: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dirty="0">
                <a:latin typeface="+mj-ea"/>
                <a:ea typeface="+mj-ea"/>
              </a:rPr>
              <a:t>이 </a:t>
            </a:r>
            <a:r>
              <a:rPr dirty="0" err="1">
                <a:latin typeface="+mj-ea"/>
                <a:ea typeface="+mj-ea"/>
              </a:rPr>
              <a:t>경계를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철저히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보호함으로써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내부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시스템을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안전하게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지키는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전통적인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보안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모델</a:t>
            </a: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lang="ko-KR" altLang="en-US" dirty="0">
                <a:latin typeface="+mj-ea"/>
                <a:ea typeface="+mj-ea"/>
              </a:rPr>
              <a:t>이 모델은 한 번 신뢰한 접속자는 계속 신뢰하는 구조</a:t>
            </a: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" y="1721485"/>
            <a:ext cx="3846195" cy="38741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586105" y="642620"/>
            <a:ext cx="10540365" cy="8693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cap="none" dirty="0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1. 경계 기반 보안 모델의 정의와 한계, 실제 사례</a:t>
            </a: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9470" cy="36703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5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586105" y="1938020"/>
            <a:ext cx="10495280" cy="409321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noAutofit/>
          </a:bodyPr>
          <a:lstStyle/>
          <a:p>
            <a:pPr marL="0" indent="0" algn="ctr" latinLnBrk="0">
              <a:buFontTx/>
              <a:buNone/>
            </a:pPr>
            <a:r>
              <a:rPr sz="2000" b="0" dirty="0">
                <a:latin typeface="+mj-ea"/>
                <a:ea typeface="+mj-ea"/>
              </a:rPr>
              <a:t>&lt; </a:t>
            </a:r>
            <a:r>
              <a:rPr sz="2000" b="0" dirty="0" err="1">
                <a:latin typeface="+mj-ea"/>
                <a:ea typeface="+mj-ea"/>
              </a:rPr>
              <a:t>한계점</a:t>
            </a:r>
            <a:r>
              <a:rPr sz="2000" b="0" dirty="0">
                <a:latin typeface="+mj-ea"/>
                <a:ea typeface="+mj-ea"/>
              </a:rPr>
              <a:t> &gt; </a:t>
            </a:r>
            <a:endParaRPr lang="ko-KR" altLang="en-US" sz="2000" b="0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/>
          </a:p>
          <a:p>
            <a:pPr marL="0" indent="0" latinLnBrk="0">
              <a:buFontTx/>
              <a:buNone/>
            </a:pPr>
            <a:endParaRPr lang="ko-KR" altLang="en-US" dirty="0"/>
          </a:p>
          <a:p>
            <a:pPr marL="0" indent="0" latinLnBrk="0">
              <a:buFontTx/>
              <a:buNone/>
            </a:pPr>
            <a:r>
              <a:rPr b="1" i="0" dirty="0">
                <a:solidFill>
                  <a:srgbClr val="FF0000"/>
                </a:solidFill>
                <a:latin typeface="+mj-ea"/>
                <a:ea typeface="+mj-ea"/>
              </a:rPr>
              <a:t>1. </a:t>
            </a:r>
            <a:r>
              <a:rPr b="1" i="0" dirty="0" err="1">
                <a:solidFill>
                  <a:srgbClr val="FF0000"/>
                </a:solidFill>
                <a:latin typeface="+mj-ea"/>
                <a:ea typeface="+mj-ea"/>
              </a:rPr>
              <a:t>내부</a:t>
            </a:r>
            <a:r>
              <a:rPr b="1" i="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b="1" i="0" dirty="0" err="1">
                <a:solidFill>
                  <a:srgbClr val="FF0000"/>
                </a:solidFill>
                <a:latin typeface="+mj-ea"/>
                <a:ea typeface="+mj-ea"/>
              </a:rPr>
              <a:t>위협에</a:t>
            </a:r>
            <a:r>
              <a:rPr b="1" i="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b="1" i="0" dirty="0" err="1">
                <a:solidFill>
                  <a:srgbClr val="FF0000"/>
                </a:solidFill>
                <a:latin typeface="+mj-ea"/>
                <a:ea typeface="+mj-ea"/>
              </a:rPr>
              <a:t>취약</a:t>
            </a:r>
            <a:endParaRPr lang="ko-KR" altLang="en-US" b="1" i="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내부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사용자는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기본적으로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신뢰되므로</a:t>
            </a:r>
            <a:r>
              <a:rPr dirty="0">
                <a:latin typeface="+mj-ea"/>
                <a:ea typeface="+mj-ea"/>
              </a:rPr>
              <a:t>, </a:t>
            </a:r>
            <a:r>
              <a:rPr dirty="0" err="1">
                <a:latin typeface="+mj-ea"/>
                <a:ea typeface="+mj-ea"/>
              </a:rPr>
              <a:t>계정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탈취나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악성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내부자의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공격에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속수무책</a:t>
            </a: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b="1" dirty="0">
                <a:solidFill>
                  <a:srgbClr val="FF0000"/>
                </a:solidFill>
                <a:latin typeface="+mj-ea"/>
                <a:ea typeface="+mj-ea"/>
              </a:rPr>
              <a:t>2. </a:t>
            </a:r>
            <a:r>
              <a:rPr b="1" dirty="0" err="1">
                <a:solidFill>
                  <a:srgbClr val="FF0000"/>
                </a:solidFill>
                <a:latin typeface="+mj-ea"/>
                <a:ea typeface="+mj-ea"/>
              </a:rPr>
              <a:t>경계가</a:t>
            </a:r>
            <a:r>
              <a:rPr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b="1" dirty="0" err="1">
                <a:solidFill>
                  <a:srgbClr val="FF0000"/>
                </a:solidFill>
                <a:latin typeface="+mj-ea"/>
                <a:ea typeface="+mj-ea"/>
              </a:rPr>
              <a:t>모호해짐</a:t>
            </a:r>
            <a:endParaRPr lang="ko-KR" altLang="en-US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dirty="0" err="1">
                <a:latin typeface="+mj-ea"/>
                <a:ea typeface="+mj-ea"/>
              </a:rPr>
              <a:t>모바일</a:t>
            </a:r>
            <a:r>
              <a:rPr dirty="0">
                <a:latin typeface="+mj-ea"/>
                <a:ea typeface="+mj-ea"/>
              </a:rPr>
              <a:t>, </a:t>
            </a:r>
            <a:r>
              <a:rPr dirty="0" err="1">
                <a:latin typeface="+mj-ea"/>
                <a:ea typeface="+mj-ea"/>
              </a:rPr>
              <a:t>사물인터넷</a:t>
            </a:r>
            <a:r>
              <a:rPr dirty="0">
                <a:latin typeface="+mj-ea"/>
                <a:ea typeface="+mj-ea"/>
              </a:rPr>
              <a:t>, </a:t>
            </a:r>
            <a:r>
              <a:rPr dirty="0" err="1">
                <a:latin typeface="+mj-ea"/>
                <a:ea typeface="+mj-ea"/>
              </a:rPr>
              <a:t>클라우드의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확산으로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원격재택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근무환경이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조성되었고</a:t>
            </a:r>
            <a:r>
              <a:rPr dirty="0">
                <a:latin typeface="+mj-ea"/>
                <a:ea typeface="+mj-ea"/>
              </a:rPr>
              <a:t>, </a:t>
            </a:r>
            <a:r>
              <a:rPr dirty="0" err="1">
                <a:latin typeface="+mj-ea"/>
                <a:ea typeface="+mj-ea"/>
              </a:rPr>
              <a:t>코로나</a:t>
            </a:r>
            <a:r>
              <a:rPr dirty="0">
                <a:latin typeface="+mj-ea"/>
                <a:ea typeface="+mj-ea"/>
              </a:rPr>
              <a:t> 19로 </a:t>
            </a:r>
            <a:r>
              <a:rPr dirty="0" err="1">
                <a:latin typeface="+mj-ea"/>
                <a:ea typeface="+mj-ea"/>
              </a:rPr>
              <a:t>인해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비대면사회가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가속되면서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내부와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외부의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경계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자체가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흐려짐</a:t>
            </a: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b="1" dirty="0">
                <a:solidFill>
                  <a:srgbClr val="FF0000"/>
                </a:solidFill>
                <a:latin typeface="+mj-ea"/>
                <a:ea typeface="+mj-ea"/>
              </a:rPr>
              <a:t>3. </a:t>
            </a:r>
            <a:r>
              <a:rPr b="1" dirty="0" err="1">
                <a:solidFill>
                  <a:srgbClr val="FF0000"/>
                </a:solidFill>
                <a:latin typeface="+mj-ea"/>
                <a:ea typeface="+mj-ea"/>
              </a:rPr>
              <a:t>확장성</a:t>
            </a:r>
            <a:r>
              <a:rPr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b="1" dirty="0" err="1">
                <a:solidFill>
                  <a:srgbClr val="FF0000"/>
                </a:solidFill>
                <a:latin typeface="+mj-ea"/>
                <a:ea typeface="+mj-ea"/>
              </a:rPr>
              <a:t>부족</a:t>
            </a:r>
            <a:endParaRPr lang="ko-KR" altLang="en-US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r>
              <a:rPr b="0" dirty="0" err="1">
                <a:latin typeface="+mj-ea"/>
                <a:ea typeface="+mj-ea"/>
              </a:rPr>
              <a:t>시스템</a:t>
            </a:r>
            <a:r>
              <a:rPr b="0" dirty="0">
                <a:latin typeface="+mj-ea"/>
                <a:ea typeface="+mj-ea"/>
              </a:rPr>
              <a:t>/</a:t>
            </a:r>
            <a:r>
              <a:rPr b="0" dirty="0" err="1">
                <a:latin typeface="+mj-ea"/>
                <a:ea typeface="+mj-ea"/>
              </a:rPr>
              <a:t>조직의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규모가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커지고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환경이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다양해질수록</a:t>
            </a:r>
            <a:r>
              <a:rPr b="0" dirty="0">
                <a:latin typeface="+mj-ea"/>
                <a:ea typeface="+mj-ea"/>
              </a:rPr>
              <a:t>, </a:t>
            </a:r>
            <a:r>
              <a:rPr b="0" dirty="0" err="1">
                <a:latin typeface="+mj-ea"/>
                <a:ea typeface="+mj-ea"/>
              </a:rPr>
              <a:t>경계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기반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모델이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효과적으로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작동하지</a:t>
            </a:r>
            <a:r>
              <a:rPr b="0" dirty="0">
                <a:latin typeface="+mj-ea"/>
                <a:ea typeface="+mj-ea"/>
              </a:rPr>
              <a:t> </a:t>
            </a:r>
            <a:r>
              <a:rPr b="0" dirty="0" err="1">
                <a:latin typeface="+mj-ea"/>
                <a:ea typeface="+mj-ea"/>
              </a:rPr>
              <a:t>못함</a:t>
            </a:r>
            <a:endParaRPr lang="ko-KR" altLang="en-US" b="0" dirty="0">
              <a:latin typeface="+mj-ea"/>
              <a:ea typeface="+mj-ea"/>
            </a:endParaRPr>
          </a:p>
          <a:p>
            <a:pPr marL="0" indent="0" latinLnBrk="0">
              <a:buFontTx/>
              <a:buNone/>
            </a:pPr>
            <a:endParaRPr lang="ko-KR" altLang="en-US" sz="1200" dirty="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586105" y="642620"/>
            <a:ext cx="10539730" cy="86868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cap="none">
                <a:solidFill>
                  <a:schemeClr val="tx1"/>
                </a:solidFill>
                <a:latin typeface="+mj-ea"/>
                <a:ea typeface="+mj-ea"/>
                <a:cs typeface="+mn-cs"/>
              </a:rPr>
              <a:t>1. 경계 기반 보안 모델의 정의와 한계, 실제 사례</a:t>
            </a: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6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8" name="그림 10" descr="C:/Users/82102/AppData/Roaming/PolarisOffice/ETemp/15824_17954912/fImage1761351176334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" y="1514475"/>
            <a:ext cx="6268720" cy="4705985"/>
          </a:xfrm>
          <a:prstGeom prst="rect">
            <a:avLst/>
          </a:prstGeom>
          <a:noFill/>
        </p:spPr>
      </p:pic>
      <p:pic>
        <p:nvPicPr>
          <p:cNvPr id="9" name="그림 11" descr="C:/Users/82102/AppData/Roaming/PolarisOffice/ETemp/15824_17954912/fImage444247119650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" r="50058"/>
          <a:stretch>
            <a:fillRect/>
          </a:stretch>
        </p:blipFill>
        <p:spPr>
          <a:xfrm>
            <a:off x="6886575" y="1504950"/>
            <a:ext cx="4871720" cy="46774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504825" y="642620"/>
            <a:ext cx="10621645" cy="63436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cap="none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1. 경계 기반 보안 모델의 정의와 한계, 실제 사례</a:t>
            </a: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7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9" name="텍스트 상자 25"/>
          <p:cNvSpPr txBox="1">
            <a:spLocks/>
          </p:cNvSpPr>
          <p:nvPr/>
        </p:nvSpPr>
        <p:spPr>
          <a:xfrm>
            <a:off x="6162675" y="1362075"/>
            <a:ext cx="5314950" cy="4859020"/>
          </a:xfrm>
          <a:prstGeom prst="rect">
            <a:avLst/>
          </a:prstGeom>
          <a:noFill/>
          <a:ln w="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algn="ctr" latinLnBrk="0">
              <a:buFontTx/>
              <a:buNone/>
            </a:pPr>
            <a:r>
              <a:rPr sz="2000" b="0" dirty="0" err="1">
                <a:latin typeface="+mj-ea"/>
                <a:ea typeface="+mj-ea"/>
              </a:rPr>
              <a:t>사례</a:t>
            </a:r>
            <a:r>
              <a:rPr sz="2000" b="0" dirty="0">
                <a:latin typeface="+mj-ea"/>
                <a:ea typeface="+mj-ea"/>
              </a:rPr>
              <a:t> 1 </a:t>
            </a:r>
            <a:endParaRPr lang="ko-KR" altLang="en-US" sz="2000" b="0" dirty="0">
              <a:latin typeface="+mj-ea"/>
              <a:ea typeface="+mj-ea"/>
            </a:endParaRPr>
          </a:p>
          <a:p>
            <a:pPr marL="0" indent="0" algn="l" latinLnBrk="0">
              <a:buFontTx/>
              <a:buNone/>
            </a:pPr>
            <a:r>
              <a:rPr sz="2000" b="0" dirty="0">
                <a:latin typeface="+mj-ea"/>
                <a:ea typeface="+mj-ea"/>
              </a:rPr>
              <a:t>[ Colonial Pipeline </a:t>
            </a:r>
            <a:r>
              <a:rPr sz="2000" b="0" dirty="0" err="1">
                <a:latin typeface="+mj-ea"/>
                <a:ea typeface="+mj-ea"/>
              </a:rPr>
              <a:t>랜섬웨어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공격</a:t>
            </a:r>
            <a:r>
              <a:rPr sz="2000" b="0" dirty="0">
                <a:latin typeface="+mj-ea"/>
                <a:ea typeface="+mj-ea"/>
              </a:rPr>
              <a:t> (2021년 5월) ]</a:t>
            </a:r>
            <a:endParaRPr lang="ko-KR" altLang="en-US" sz="2000" b="0" dirty="0">
              <a:latin typeface="+mj-ea"/>
              <a:ea typeface="+mj-ea"/>
            </a:endParaRPr>
          </a:p>
          <a:p>
            <a:pPr marL="0" indent="0" algn="l" latinLnBrk="0">
              <a:buFontTx/>
              <a:buNone/>
            </a:pPr>
            <a:endParaRPr lang="ko-KR" altLang="en-US" sz="20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sz="1800" b="0" dirty="0" err="1">
                <a:latin typeface="+mj-ea"/>
                <a:ea typeface="+mj-ea"/>
              </a:rPr>
              <a:t>사건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개요</a:t>
            </a:r>
            <a:r>
              <a:rPr sz="1800" b="0" dirty="0">
                <a:latin typeface="+mj-ea"/>
                <a:ea typeface="+mj-ea"/>
              </a:rPr>
              <a:t> : </a:t>
            </a:r>
            <a:r>
              <a:rPr sz="1800" b="0" dirty="0" err="1">
                <a:latin typeface="+mj-ea"/>
                <a:ea typeface="+mj-ea"/>
              </a:rPr>
              <a:t>미국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최대의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석유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파이프라인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운영사인</a:t>
            </a:r>
            <a:r>
              <a:rPr sz="1800" b="0" dirty="0">
                <a:latin typeface="+mj-ea"/>
                <a:ea typeface="+mj-ea"/>
              </a:rPr>
              <a:t> Colonial </a:t>
            </a:r>
            <a:r>
              <a:rPr sz="1800" b="0" dirty="0" err="1">
                <a:latin typeface="+mj-ea"/>
                <a:ea typeface="+mj-ea"/>
              </a:rPr>
              <a:t>Pipeline이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랜섬웨어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공격을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받아</a:t>
            </a:r>
            <a:r>
              <a:rPr sz="1800" b="0" dirty="0">
                <a:latin typeface="+mj-ea"/>
                <a:ea typeface="+mj-ea"/>
              </a:rPr>
              <a:t>, </a:t>
            </a:r>
            <a:r>
              <a:rPr sz="1800" b="0" dirty="0" err="1">
                <a:latin typeface="+mj-ea"/>
                <a:ea typeface="+mj-ea"/>
              </a:rPr>
              <a:t>동부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해안의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연료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공급이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일시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중단되었음</a:t>
            </a:r>
            <a:endParaRPr lang="ko-KR" altLang="en-US" sz="18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sz="1800" b="0" dirty="0" err="1">
                <a:latin typeface="+mj-ea"/>
                <a:ea typeface="+mj-ea"/>
              </a:rPr>
              <a:t>이로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인해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대규모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연료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부족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사태가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발생하였고</a:t>
            </a:r>
            <a:r>
              <a:rPr sz="1800" b="0" dirty="0">
                <a:latin typeface="+mj-ea"/>
                <a:ea typeface="+mj-ea"/>
              </a:rPr>
              <a:t>, </a:t>
            </a:r>
            <a:r>
              <a:rPr sz="1800" b="0" dirty="0" err="1">
                <a:latin typeface="+mj-ea"/>
                <a:ea typeface="+mj-ea"/>
              </a:rPr>
              <a:t>기업은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약</a:t>
            </a:r>
            <a:r>
              <a:rPr sz="1800" b="0" dirty="0">
                <a:latin typeface="+mj-ea"/>
                <a:ea typeface="+mj-ea"/>
              </a:rPr>
              <a:t> 440만 </a:t>
            </a:r>
            <a:r>
              <a:rPr sz="1800" b="0" dirty="0" err="1">
                <a:latin typeface="+mj-ea"/>
                <a:ea typeface="+mj-ea"/>
              </a:rPr>
              <a:t>달러의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몸값을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지불하는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큰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피해를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입음</a:t>
            </a:r>
            <a:endParaRPr lang="ko-KR" altLang="en-US" sz="18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sz="2000" b="0" dirty="0">
                <a:latin typeface="+mj-ea"/>
                <a:ea typeface="+mj-ea"/>
              </a:rPr>
              <a:t>-&gt; </a:t>
            </a:r>
            <a:r>
              <a:rPr sz="2000" b="0" dirty="0" err="1">
                <a:latin typeface="+mj-ea"/>
                <a:ea typeface="+mj-ea"/>
              </a:rPr>
              <a:t>공격자는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단순한</a:t>
            </a:r>
            <a:r>
              <a:rPr sz="2000" b="0" dirty="0">
                <a:latin typeface="+mj-ea"/>
                <a:ea typeface="+mj-ea"/>
              </a:rPr>
              <a:t> VPN </a:t>
            </a:r>
            <a:r>
              <a:rPr sz="2000" b="0" dirty="0" err="1">
                <a:latin typeface="+mj-ea"/>
                <a:ea typeface="+mj-ea"/>
              </a:rPr>
              <a:t>계정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탈취를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통해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내부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네트워크에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접근하였음</a:t>
            </a:r>
            <a:endParaRPr lang="ko-KR" altLang="en-US" sz="2000" b="0" dirty="0">
              <a:latin typeface="+mj-ea"/>
              <a:ea typeface="+mj-ea"/>
            </a:endParaRPr>
          </a:p>
        </p:txBody>
      </p:sp>
      <p:pic>
        <p:nvPicPr>
          <p:cNvPr id="10" name="그림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352550"/>
            <a:ext cx="5448935" cy="4906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514350" y="642620"/>
            <a:ext cx="10612120" cy="6057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cap="none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1. 경계 기반 보안 모델의 정의와 한계, 실제 사례</a:t>
            </a: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9470" cy="36703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8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10" name="Rect 0"/>
          <p:cNvSpPr txBox="1">
            <a:spLocks/>
          </p:cNvSpPr>
          <p:nvPr/>
        </p:nvSpPr>
        <p:spPr>
          <a:xfrm>
            <a:off x="6049645" y="1351915"/>
            <a:ext cx="5438775" cy="4859655"/>
          </a:xfrm>
          <a:prstGeom prst="rect">
            <a:avLst/>
          </a:prstGeom>
          <a:noFill/>
          <a:ln w="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algn="ctr" latinLnBrk="0">
              <a:buFontTx/>
              <a:buNone/>
            </a:pPr>
            <a:r>
              <a:rPr sz="2000" b="0" dirty="0" err="1">
                <a:latin typeface="+mj-ea"/>
                <a:ea typeface="+mj-ea"/>
              </a:rPr>
              <a:t>사례</a:t>
            </a:r>
            <a:r>
              <a:rPr sz="2000" b="0" dirty="0">
                <a:latin typeface="+mj-ea"/>
                <a:ea typeface="+mj-ea"/>
              </a:rPr>
              <a:t> 2</a:t>
            </a:r>
            <a:endParaRPr lang="ko-KR" altLang="en-US" sz="20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sz="2000" b="0" dirty="0">
                <a:latin typeface="+mj-ea"/>
                <a:ea typeface="+mj-ea"/>
              </a:rPr>
              <a:t>[ </a:t>
            </a:r>
            <a:r>
              <a:rPr sz="2000" b="0" dirty="0" err="1">
                <a:latin typeface="+mj-ea"/>
                <a:ea typeface="+mj-ea"/>
              </a:rPr>
              <a:t>MOVEit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데이터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유출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사건</a:t>
            </a:r>
            <a:r>
              <a:rPr sz="2000" b="0" dirty="0">
                <a:latin typeface="+mj-ea"/>
                <a:ea typeface="+mj-ea"/>
              </a:rPr>
              <a:t> ]</a:t>
            </a:r>
            <a:endParaRPr lang="ko-KR" altLang="en-US" sz="20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endParaRPr lang="ko-KR" altLang="en-US" sz="20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sz="1800" b="0" dirty="0" err="1">
                <a:latin typeface="+mj-ea"/>
                <a:ea typeface="+mj-ea"/>
              </a:rPr>
              <a:t>사건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개요</a:t>
            </a:r>
            <a:r>
              <a:rPr sz="1800" b="0" dirty="0">
                <a:latin typeface="+mj-ea"/>
                <a:ea typeface="+mj-ea"/>
              </a:rPr>
              <a:t> : Progress Software </a:t>
            </a:r>
            <a:r>
              <a:rPr sz="1800" b="0" dirty="0" err="1">
                <a:latin typeface="+mj-ea"/>
                <a:ea typeface="+mj-ea"/>
              </a:rPr>
              <a:t>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파일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전송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솔루션인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MOVEit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Transger의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제로데이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취약점을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러시아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기반의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해킹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그룹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Clop이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악용하여</a:t>
            </a:r>
            <a:r>
              <a:rPr sz="1800" b="0" dirty="0">
                <a:latin typeface="+mj-ea"/>
                <a:ea typeface="+mj-ea"/>
              </a:rPr>
              <a:t>, </a:t>
            </a:r>
            <a:r>
              <a:rPr sz="1800" b="0" dirty="0" err="1">
                <a:latin typeface="+mj-ea"/>
                <a:ea typeface="+mj-ea"/>
              </a:rPr>
              <a:t>전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세계</a:t>
            </a:r>
            <a:r>
              <a:rPr sz="1800" b="0" dirty="0">
                <a:latin typeface="+mj-ea"/>
                <a:ea typeface="+mj-ea"/>
              </a:rPr>
              <a:t> 2,700개 </a:t>
            </a:r>
            <a:r>
              <a:rPr sz="1800" b="0" dirty="0" err="1">
                <a:latin typeface="+mj-ea"/>
                <a:ea typeface="+mj-ea"/>
              </a:rPr>
              <a:t>이상의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조직에서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약</a:t>
            </a:r>
            <a:r>
              <a:rPr sz="1800" b="0" dirty="0">
                <a:latin typeface="+mj-ea"/>
                <a:ea typeface="+mj-ea"/>
              </a:rPr>
              <a:t> 9,330만 </a:t>
            </a:r>
            <a:r>
              <a:rPr sz="1800" b="0" dirty="0" err="1">
                <a:latin typeface="+mj-ea"/>
                <a:ea typeface="+mj-ea"/>
              </a:rPr>
              <a:t>명의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개인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데이터를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탈취한</a:t>
            </a:r>
            <a:r>
              <a:rPr sz="1800" b="0" dirty="0">
                <a:latin typeface="+mj-ea"/>
                <a:ea typeface="+mj-ea"/>
              </a:rPr>
              <a:t> </a:t>
            </a:r>
            <a:r>
              <a:rPr sz="1800" b="0" dirty="0" err="1">
                <a:latin typeface="+mj-ea"/>
                <a:ea typeface="+mj-ea"/>
              </a:rPr>
              <a:t>사건</a:t>
            </a:r>
            <a:endParaRPr lang="ko-KR" altLang="en-US" sz="1800" b="0" dirty="0">
              <a:latin typeface="+mj-ea"/>
              <a:ea typeface="+mj-ea"/>
            </a:endParaRPr>
          </a:p>
          <a:p>
            <a:pPr marL="0" indent="0" algn="l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l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l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l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l" latinLnBrk="0">
              <a:buFontTx/>
              <a:buNone/>
            </a:pPr>
            <a:endParaRPr lang="ko-KR" altLang="en-US" sz="1800" b="0" dirty="0">
              <a:latin typeface="+mj-ea"/>
              <a:ea typeface="+mj-ea"/>
            </a:endParaRPr>
          </a:p>
          <a:p>
            <a:pPr marL="0" indent="0" algn="ctr" latinLnBrk="0">
              <a:buFontTx/>
              <a:buNone/>
            </a:pPr>
            <a:r>
              <a:rPr sz="2000" b="0" dirty="0">
                <a:latin typeface="+mj-ea"/>
                <a:ea typeface="+mj-ea"/>
              </a:rPr>
              <a:t>-&gt; </a:t>
            </a:r>
            <a:r>
              <a:rPr sz="2000" b="0" dirty="0" err="1">
                <a:latin typeface="+mj-ea"/>
                <a:ea typeface="+mj-ea"/>
              </a:rPr>
              <a:t>공격자는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서버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외부에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노출된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취약점을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통해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내부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네트워크에</a:t>
            </a:r>
            <a:r>
              <a:rPr sz="2000" b="0" dirty="0">
                <a:latin typeface="+mj-ea"/>
                <a:ea typeface="+mj-ea"/>
              </a:rPr>
              <a:t> </a:t>
            </a:r>
            <a:r>
              <a:rPr sz="2000" b="0" dirty="0" err="1">
                <a:latin typeface="+mj-ea"/>
                <a:ea typeface="+mj-ea"/>
              </a:rPr>
              <a:t>침입하였음</a:t>
            </a:r>
            <a:endParaRPr lang="ko-KR" altLang="en-US" sz="2000" b="0" dirty="0">
              <a:latin typeface="+mj-ea"/>
              <a:ea typeface="+mj-ea"/>
            </a:endParaRPr>
          </a:p>
        </p:txBody>
      </p:sp>
      <p:pic>
        <p:nvPicPr>
          <p:cNvPr id="11" name="그림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1343025"/>
            <a:ext cx="5296535" cy="49345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9AB97-7EFF-4EF3-8BB9-484C7119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제로트러스트</a:t>
            </a:r>
            <a:r>
              <a:rPr lang="ko-KR" altLang="en-US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추진 배경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51E4CBE-34C8-447A-E82C-6B63DC74354A}"/>
              </a:ext>
            </a:extLst>
          </p:cNvPr>
          <p:cNvSpPr/>
          <p:nvPr/>
        </p:nvSpPr>
        <p:spPr>
          <a:xfrm>
            <a:off x="1066800" y="2476263"/>
            <a:ext cx="2721429" cy="2232045"/>
          </a:xfrm>
          <a:prstGeom prst="ellipse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일상생활을 포함한 다양한 산업 분야로</a:t>
            </a:r>
            <a:endParaRPr lang="en-US" altLang="ko-KR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사이버보안 </a:t>
            </a:r>
            <a:endParaRPr lang="en-US" altLang="ko-KR" dirty="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영역이 확장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60CEE21-1EC1-F816-074F-7C9232A161E6}"/>
              </a:ext>
            </a:extLst>
          </p:cNvPr>
          <p:cNvSpPr/>
          <p:nvPr/>
        </p:nvSpPr>
        <p:spPr>
          <a:xfrm>
            <a:off x="4452730" y="2476262"/>
            <a:ext cx="2767812" cy="2232045"/>
          </a:xfrm>
          <a:prstGeom prst="ellipse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 대상의 증가와 공격의 지능화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 인한 </a:t>
            </a:r>
            <a:r>
              <a:rPr lang="ko-KR" altLang="en-US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사이버 보안 관리의 어려움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42F32C9-A5D7-9E6A-C55E-92C1DB1169ED}"/>
              </a:ext>
            </a:extLst>
          </p:cNvPr>
          <p:cNvSpPr/>
          <p:nvPr/>
        </p:nvSpPr>
        <p:spPr>
          <a:xfrm>
            <a:off x="8123582" y="2476263"/>
            <a:ext cx="2767812" cy="2232045"/>
          </a:xfrm>
          <a:prstGeom prst="ellipse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경계 보안의 허점을 이용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하는 침해사고의 형태가 증가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E2A5D3-B348-9A42-489A-0F30348469D1}"/>
              </a:ext>
            </a:extLst>
          </p:cNvPr>
          <p:cNvSpPr txBox="1"/>
          <p:nvPr/>
        </p:nvSpPr>
        <p:spPr>
          <a:xfrm>
            <a:off x="1091884" y="5446644"/>
            <a:ext cx="10008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-&gt;</a:t>
            </a:r>
            <a:r>
              <a:rPr lang="en-US" altLang="ko-KR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ko-KR" sz="1800" b="1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기존의 경계 기반 보안모델로는 이에 대응하는데 한계가 있어 </a:t>
            </a:r>
            <a:r>
              <a:rPr lang="ko-KR" altLang="ko-KR" sz="1800" b="1" dirty="0">
                <a:solidFill>
                  <a:schemeClr val="accent4">
                    <a:lumMod val="75000"/>
                  </a:schemeClr>
                </a:solidFill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사이버보안 체계 자체의 변화가 필요</a:t>
            </a:r>
            <a:endParaRPr lang="ko-KR" altLang="en-US" b="1" dirty="0">
              <a:solidFill>
                <a:schemeClr val="accent4">
                  <a:lumMod val="7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2875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A8FE8FAB-36BA-2F64-339B-8895B3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제로트러스트란</a:t>
            </a:r>
            <a:r>
              <a:rPr lang="en-US" altLang="ko-KR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?</a:t>
            </a:r>
            <a:endParaRPr lang="ko-KR" altLang="en-US" sz="4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C10542-F8D3-673D-09B9-FD104B8C5635}"/>
              </a:ext>
            </a:extLst>
          </p:cNvPr>
          <p:cNvSpPr txBox="1"/>
          <p:nvPr/>
        </p:nvSpPr>
        <p:spPr>
          <a:xfrm>
            <a:off x="1629543" y="2082348"/>
            <a:ext cx="8932914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b">
            <a:spAutoFit/>
          </a:bodyPr>
          <a:lstStyle/>
          <a:p>
            <a:pPr algn="ctr"/>
            <a:r>
              <a:rPr lang="ko-KR" altLang="ko-KR" sz="1800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정보 시스템 및 서비스에 대한 접속요구가 있을 때</a:t>
            </a:r>
            <a:endParaRPr lang="en-US" altLang="ko-KR" sz="1800" dirty="0"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algn="ctr"/>
            <a:r>
              <a:rPr lang="ko-KR" altLang="ko-KR" sz="1800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ko-KR" sz="1800" dirty="0">
                <a:solidFill>
                  <a:schemeClr val="accent4">
                    <a:lumMod val="75000"/>
                  </a:schemeClr>
                </a:solidFill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네트워크가 이미 침해된 것으로 간주</a:t>
            </a:r>
            <a:r>
              <a:rPr lang="ko-KR" altLang="ko-KR" sz="1800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하고</a:t>
            </a:r>
            <a:r>
              <a:rPr lang="en-US" altLang="ko-KR" sz="1800" dirty="0">
                <a:solidFill>
                  <a:schemeClr val="accent4">
                    <a:lumMod val="75000"/>
                  </a:schemeClr>
                </a:solidFill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</a:p>
          <a:p>
            <a:pPr algn="ctr"/>
            <a:r>
              <a:rPr lang="ko-KR" altLang="ko-KR" sz="1800" dirty="0">
                <a:solidFill>
                  <a:schemeClr val="accent4">
                    <a:lumMod val="75000"/>
                  </a:schemeClr>
                </a:solidFill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주어진 권한을 정확하고 최소한으로 부여</a:t>
            </a:r>
            <a:r>
              <a:rPr lang="ko-KR" altLang="ko-KR" sz="1800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하는데 있어서</a:t>
            </a:r>
            <a:endParaRPr lang="en-US" altLang="ko-KR" sz="1800" dirty="0"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algn="ctr"/>
            <a:r>
              <a:rPr lang="ko-KR" altLang="ko-KR" sz="1800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불확실성을 최소화하도록 설계된 개념 및 아이디어 모음</a:t>
            </a:r>
            <a:endParaRPr lang="ko-KR" altLang="en-US" sz="18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02E5E2-3566-AFDC-B98D-CBD9F4F95BB3}"/>
              </a:ext>
            </a:extLst>
          </p:cNvPr>
          <p:cNvSpPr txBox="1"/>
          <p:nvPr/>
        </p:nvSpPr>
        <p:spPr>
          <a:xfrm>
            <a:off x="3883833" y="4738078"/>
            <a:ext cx="4424334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“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결코 신뢰하지 말고</a:t>
            </a: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항상 검증하라</a:t>
            </a: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모든 접속 요구를 신뢰하지 않음</a:t>
            </a:r>
            <a:endParaRPr lang="en-US" altLang="ko-KR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접속 요구마다 인증 필요</a:t>
            </a: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CE0CD8A5-4743-ADBF-6CDA-88FD1FBBBD97}"/>
              </a:ext>
            </a:extLst>
          </p:cNvPr>
          <p:cNvSpPr/>
          <p:nvPr/>
        </p:nvSpPr>
        <p:spPr>
          <a:xfrm>
            <a:off x="5846102" y="3813786"/>
            <a:ext cx="499796" cy="6701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E2128A7-9535-85E0-55D5-73539593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723" y="551984"/>
            <a:ext cx="10058400" cy="1371600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경계 기반 보안모델 </a:t>
            </a:r>
            <a:r>
              <a:rPr lang="en-US" altLang="ko-KR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vs.</a:t>
            </a:r>
            <a:r>
              <a:rPr lang="ko-KR" altLang="en-US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4000" b="1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제로트러스트</a:t>
            </a:r>
            <a:endParaRPr lang="ko-KR" altLang="en-US" sz="4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FB0F3B2-D30A-08E2-F0E2-5053508D9BD1}"/>
              </a:ext>
            </a:extLst>
          </p:cNvPr>
          <p:cNvGraphicFramePr>
            <a:graphicFrameLocks noGrp="1"/>
          </p:cNvGraphicFramePr>
          <p:nvPr/>
        </p:nvGraphicFramePr>
        <p:xfrm>
          <a:off x="1032723" y="2778189"/>
          <a:ext cx="10126554" cy="19057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063277">
                  <a:extLst>
                    <a:ext uri="{9D8B030D-6E8A-4147-A177-3AD203B41FA5}">
                      <a16:colId xmlns:a16="http://schemas.microsoft.com/office/drawing/2014/main" val="3305583146"/>
                    </a:ext>
                  </a:extLst>
                </a:gridCol>
                <a:gridCol w="5063277">
                  <a:extLst>
                    <a:ext uri="{9D8B030D-6E8A-4147-A177-3AD203B41FA5}">
                      <a16:colId xmlns:a16="http://schemas.microsoft.com/office/drawing/2014/main" val="2317559350"/>
                    </a:ext>
                  </a:extLst>
                </a:gridCol>
              </a:tblGrid>
              <a:tr h="614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경계 기반 보안모델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err="1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제로트러스트</a:t>
                      </a:r>
                      <a:endParaRPr lang="ko-KR" altLang="en-US" sz="2400" dirty="0"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70063"/>
                  </a:ext>
                </a:extLst>
              </a:tr>
              <a:tr h="1291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네트워크 내부 접속 요구는 어느정도</a:t>
                      </a:r>
                      <a:endParaRPr lang="en-US" altLang="ko-KR" sz="20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신뢰할 수 있다</a:t>
                      </a:r>
                      <a:endParaRPr lang="ko-KR" altLang="en-US" sz="2000" dirty="0"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모든 접속 요구는 신뢰할 수 없다</a:t>
                      </a:r>
                      <a:endParaRPr lang="ko-KR" altLang="en-US" sz="2000" dirty="0"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482450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330CF1BC-BBA5-F470-F856-8D9DA5FDF49F}"/>
              </a:ext>
            </a:extLst>
          </p:cNvPr>
          <p:cNvGrpSpPr/>
          <p:nvPr/>
        </p:nvGrpSpPr>
        <p:grpSpPr>
          <a:xfrm>
            <a:off x="1230393" y="1767771"/>
            <a:ext cx="4865607" cy="4144592"/>
            <a:chOff x="1564620" y="1872265"/>
            <a:chExt cx="3989786" cy="3436912"/>
          </a:xfrm>
        </p:grpSpPr>
        <p:pic>
          <p:nvPicPr>
            <p:cNvPr id="31" name="그림 30" descr="텍스트, 스크린샷, 폰트, 도표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E5838051-1A2B-86F7-0F9D-C4BF676E7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380" t="15377" r="51739" b="23397"/>
            <a:stretch/>
          </p:blipFill>
          <p:spPr>
            <a:xfrm>
              <a:off x="1564620" y="1872265"/>
              <a:ext cx="3641591" cy="343691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0F6A25-632C-734A-F882-399768A64295}"/>
                </a:ext>
              </a:extLst>
            </p:cNvPr>
            <p:cNvSpPr txBox="1"/>
            <p:nvPr/>
          </p:nvSpPr>
          <p:spPr>
            <a:xfrm>
              <a:off x="4132255" y="5004228"/>
              <a:ext cx="1422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출처</a:t>
              </a:r>
              <a:r>
                <a:rPr lang="en-US" altLang="ko-KR" sz="1200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: </a:t>
              </a:r>
              <a:r>
                <a:rPr lang="ko-KR" altLang="en-US" sz="1200" dirty="0" err="1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과기정통부</a:t>
              </a:r>
              <a:endParaRPr lang="ko-KR" altLang="en-US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C48ED9A-ACC3-2A91-19A2-B5ABFA7F5082}"/>
              </a:ext>
            </a:extLst>
          </p:cNvPr>
          <p:cNvGrpSpPr/>
          <p:nvPr/>
        </p:nvGrpSpPr>
        <p:grpSpPr>
          <a:xfrm>
            <a:off x="6433379" y="1767771"/>
            <a:ext cx="4855414" cy="4144592"/>
            <a:chOff x="6829038" y="1923584"/>
            <a:chExt cx="4142961" cy="3334273"/>
          </a:xfrm>
        </p:grpSpPr>
        <p:pic>
          <p:nvPicPr>
            <p:cNvPr id="32" name="그림 31" descr="텍스트, 스크린샷, 폰트, 도표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5C070B4-1534-DD69-B270-85975C92C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0" t="11829" r="6216" b="22902"/>
            <a:stretch/>
          </p:blipFill>
          <p:spPr>
            <a:xfrm>
              <a:off x="6829038" y="1923584"/>
              <a:ext cx="3830442" cy="333427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2EACA80-7F4E-CBD4-0AD8-86E9D95B30B1}"/>
                </a:ext>
              </a:extLst>
            </p:cNvPr>
            <p:cNvSpPr txBox="1"/>
            <p:nvPr/>
          </p:nvSpPr>
          <p:spPr>
            <a:xfrm>
              <a:off x="9549848" y="4966883"/>
              <a:ext cx="1422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출처</a:t>
              </a:r>
              <a:r>
                <a:rPr lang="en-US" altLang="ko-KR" sz="1200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: </a:t>
              </a:r>
              <a:r>
                <a:rPr lang="ko-KR" altLang="en-US" sz="1200" dirty="0" err="1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과기정통부</a:t>
              </a:r>
              <a:endParaRPr lang="ko-KR" altLang="en-US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15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0771-739E-587A-8183-E617B5C1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B5C52-125C-5F92-004A-64DF89AE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제로트러스트</a:t>
            </a:r>
            <a:r>
              <a:rPr lang="ko-KR" altLang="en-US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구현 핵심원칙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2BABF4B-756F-4155-30D1-62E7D5193F6E}"/>
              </a:ext>
            </a:extLst>
          </p:cNvPr>
          <p:cNvSpPr/>
          <p:nvPr/>
        </p:nvSpPr>
        <p:spPr>
          <a:xfrm>
            <a:off x="1066800" y="2476263"/>
            <a:ext cx="2721429" cy="2232045"/>
          </a:xfrm>
          <a:prstGeom prst="ellipse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인증 체계 강화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6F63BBD-B7C9-303F-C7A7-CBD5C35D629C}"/>
              </a:ext>
            </a:extLst>
          </p:cNvPr>
          <p:cNvSpPr/>
          <p:nvPr/>
        </p:nvSpPr>
        <p:spPr>
          <a:xfrm>
            <a:off x="4452730" y="2476262"/>
            <a:ext cx="2767812" cy="2232045"/>
          </a:xfrm>
          <a:prstGeom prst="ellipse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마이크로 </a:t>
            </a:r>
            <a:r>
              <a:rPr lang="ko-KR" altLang="en-US" sz="2400" b="1" dirty="0" err="1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세그멘테이션</a:t>
            </a:r>
            <a:endParaRPr lang="ko-KR" altLang="en-US" sz="2400" b="1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E9C93C3-B617-F22F-4A42-BF8C82A03351}"/>
              </a:ext>
            </a:extLst>
          </p:cNvPr>
          <p:cNvSpPr/>
          <p:nvPr/>
        </p:nvSpPr>
        <p:spPr>
          <a:xfrm>
            <a:off x="8123582" y="2476263"/>
            <a:ext cx="2767812" cy="2232045"/>
          </a:xfrm>
          <a:prstGeom prst="ellipse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소프트웨어 정의 경계</a:t>
            </a:r>
          </a:p>
        </p:txBody>
      </p:sp>
    </p:spTree>
    <p:extLst>
      <p:ext uri="{BB962C8B-B14F-4D97-AF65-F5344CB8AC3E}">
        <p14:creationId xmlns:p14="http://schemas.microsoft.com/office/powerpoint/2010/main" val="1428029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7CB4-F6DE-B98A-3909-1FC12109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3FBB5-D816-37CF-5235-B26418C8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30" y="426773"/>
            <a:ext cx="10058400" cy="1371600"/>
          </a:xfrm>
        </p:spPr>
        <p:txBody>
          <a:bodyPr>
            <a:normAutofit/>
          </a:bodyPr>
          <a:lstStyle/>
          <a:p>
            <a:r>
              <a:rPr lang="ko-KR" altLang="en-US" sz="4000" b="1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제로트러스트</a:t>
            </a:r>
            <a:r>
              <a:rPr lang="ko-KR" altLang="en-US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아키텍처 보안 모델의 구성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B3327-6243-C037-00B6-B6BB708F90E1}"/>
              </a:ext>
            </a:extLst>
          </p:cNvPr>
          <p:cNvSpPr txBox="1"/>
          <p:nvPr/>
        </p:nvSpPr>
        <p:spPr>
          <a:xfrm>
            <a:off x="782825" y="1729605"/>
            <a:ext cx="108260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접근제어 정책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</a:t>
            </a:r>
            <a:r>
              <a:rPr lang="ko-KR" altLang="en-US" sz="2000" dirty="0">
                <a:solidFill>
                  <a:schemeClr val="accent4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핵심</a:t>
            </a:r>
            <a:endParaRPr lang="en-US" altLang="ko-KR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2000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기업이나 기관에 따라 구현 방식이 달라질 수 있으나 </a:t>
            </a:r>
            <a:r>
              <a:rPr lang="ko-KR" altLang="ko-KR" sz="2000" dirty="0">
                <a:solidFill>
                  <a:schemeClr val="accent4">
                    <a:lumMod val="75000"/>
                  </a:schemeClr>
                </a:solidFill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모두 논리 구성 요소를 이용한 접근제어를 기반</a:t>
            </a:r>
            <a:r>
              <a:rPr lang="ko-KR" altLang="en-US" sz="2000" dirty="0">
                <a:effectLst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으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 한다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endParaRPr lang="en-US" altLang="ko-KR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F8D5A-AE04-5B2F-730B-3AC729EFE4E6}"/>
              </a:ext>
            </a:extLst>
          </p:cNvPr>
          <p:cNvSpPr txBox="1"/>
          <p:nvPr/>
        </p:nvSpPr>
        <p:spPr>
          <a:xfrm>
            <a:off x="921973" y="3360821"/>
            <a:ext cx="5174027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논리 구성 요소</a:t>
            </a:r>
            <a:endParaRPr lang="en-US" altLang="ko-KR" sz="24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정책 엔진 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(PE)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정책 관리자 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(PA)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정책결정지점 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(PDP)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정책시행지점 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(PEP)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정책정보지점 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(PIP)</a:t>
            </a:r>
            <a:endParaRPr lang="ko-KR" altLang="en-US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781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C78A-2EF1-D398-F20C-7FB8ECB5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F014F-E15D-C2A0-375C-ADE8DBFC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30" y="426773"/>
            <a:ext cx="10058400" cy="1371600"/>
          </a:xfrm>
        </p:spPr>
        <p:txBody>
          <a:bodyPr>
            <a:normAutofit/>
          </a:bodyPr>
          <a:lstStyle/>
          <a:p>
            <a:r>
              <a:rPr lang="ko-KR" altLang="en-US" sz="4000" b="1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제로트러스트</a:t>
            </a:r>
            <a:r>
              <a:rPr lang="ko-KR" altLang="en-US" sz="4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아키텍처 보안 모델의 구성</a:t>
            </a:r>
          </a:p>
        </p:txBody>
      </p:sp>
      <p:pic>
        <p:nvPicPr>
          <p:cNvPr id="3" name="그림 2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274453B-5D7B-0AC3-FCC6-A8FE06778C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9" t="10581" r="2155" b="3160"/>
          <a:stretch/>
        </p:blipFill>
        <p:spPr>
          <a:xfrm>
            <a:off x="1641092" y="1599590"/>
            <a:ext cx="8228275" cy="466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48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611A-29C0-7424-4B09-5B7833B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CB4FE-DD68-B971-2FFE-7950A294C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50" y="642620"/>
            <a:ext cx="10612120" cy="6057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cap="none" dirty="0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제로 트러스트 보안 모델 도입 전후 비교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16ED91-B544-AFC4-75D4-4691424A8A8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9470" cy="36703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15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C165C48-9BDE-49C4-5E54-A244AD975310}"/>
              </a:ext>
            </a:extLst>
          </p:cNvPr>
          <p:cNvSpPr txBox="1">
            <a:spLocks/>
          </p:cNvSpPr>
          <p:nvPr/>
        </p:nvSpPr>
        <p:spPr>
          <a:xfrm>
            <a:off x="690310" y="1330044"/>
            <a:ext cx="10811380" cy="4859020"/>
          </a:xfrm>
          <a:prstGeom prst="rect">
            <a:avLst/>
          </a:prstGeom>
          <a:noFill/>
          <a:ln w="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2000" b="0" dirty="0"/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4D261B-155A-8A18-EA6E-970C62BC4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380" y="2263656"/>
            <a:ext cx="7772400" cy="3685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BBDE76-8B35-F4A4-40F9-FA4E426A0C75}"/>
              </a:ext>
            </a:extLst>
          </p:cNvPr>
          <p:cNvSpPr txBox="1"/>
          <p:nvPr/>
        </p:nvSpPr>
        <p:spPr>
          <a:xfrm>
            <a:off x="4025330" y="1754569"/>
            <a:ext cx="40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r>
              <a:rPr kumimoji="1" lang="ko-KR" altLang="en-US" dirty="0"/>
              <a:t>경계 보안 </a:t>
            </a:r>
            <a:r>
              <a:rPr kumimoji="1" lang="en-US" altLang="ko-KR" dirty="0"/>
              <a:t>VS </a:t>
            </a:r>
            <a:r>
              <a:rPr kumimoji="1" lang="ko-KR" altLang="en-US" dirty="0"/>
              <a:t>제로 트러스트 보안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382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2A973-A9A0-A271-D8EC-8331FABC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AB691-B4C8-1E9F-B6C4-2152E468E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50" y="642620"/>
            <a:ext cx="10612120" cy="6057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cap="none" dirty="0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제로 트러스트 보안 모델 도입 전후 비교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E2CF1-2911-DEED-C466-9808F1402F7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9470" cy="36703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16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8B808088-091D-FF11-C3FA-237A95614311}"/>
              </a:ext>
            </a:extLst>
          </p:cNvPr>
          <p:cNvSpPr txBox="1">
            <a:spLocks/>
          </p:cNvSpPr>
          <p:nvPr/>
        </p:nvSpPr>
        <p:spPr>
          <a:xfrm>
            <a:off x="690310" y="1330044"/>
            <a:ext cx="10811380" cy="4859020"/>
          </a:xfrm>
          <a:prstGeom prst="rect">
            <a:avLst/>
          </a:prstGeom>
          <a:noFill/>
          <a:ln w="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 lang="en-US" altLang="ko-KR" sz="2000" b="0" dirty="0"/>
          </a:p>
          <a:p>
            <a:pPr marL="0" indent="0" latinLnBrk="0">
              <a:buFontTx/>
              <a:buNone/>
            </a:pPr>
            <a:endParaRPr lang="en-US" altLang="ko-KR" sz="2000" dirty="0"/>
          </a:p>
          <a:p>
            <a:pPr marL="0" indent="0" latinLnBrk="0">
              <a:buFontTx/>
              <a:buNone/>
            </a:pPr>
            <a:endParaRPr lang="en-US" altLang="ko-KR" sz="2000" b="0" dirty="0"/>
          </a:p>
          <a:p>
            <a:pPr marL="0" indent="0" latinLnBrk="0">
              <a:buFontTx/>
              <a:buNone/>
            </a:pPr>
            <a:endParaRPr lang="en-US" altLang="ko-KR" sz="2000" dirty="0"/>
          </a:p>
          <a:p>
            <a:pPr marL="0" indent="0" latinLnBrk="0">
              <a:buFontTx/>
              <a:buNone/>
            </a:pPr>
            <a:endParaRPr lang="ko-KR" altLang="en-US" sz="2000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92980-0E09-0099-F2C1-9FA31A0BD995}"/>
              </a:ext>
            </a:extLst>
          </p:cNvPr>
          <p:cNvSpPr txBox="1"/>
          <p:nvPr/>
        </p:nvSpPr>
        <p:spPr>
          <a:xfrm>
            <a:off x="2698465" y="1812690"/>
            <a:ext cx="679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r>
              <a:rPr kumimoji="1" lang="ko-KR" altLang="en-US" dirty="0"/>
              <a:t>침해 시나리오 적용 시 경계 보안 </a:t>
            </a:r>
            <a:r>
              <a:rPr kumimoji="1" lang="en-US" altLang="ko-KR" dirty="0"/>
              <a:t>VS </a:t>
            </a:r>
            <a:r>
              <a:rPr kumimoji="1" lang="ko-KR" altLang="en-US" dirty="0"/>
              <a:t>제로 트러스트 보안 비교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8B490-C0A7-3471-66B6-D35E1D081BBF}"/>
              </a:ext>
            </a:extLst>
          </p:cNvPr>
          <p:cNvSpPr txBox="1"/>
          <p:nvPr/>
        </p:nvSpPr>
        <p:spPr>
          <a:xfrm>
            <a:off x="3361134" y="3169880"/>
            <a:ext cx="54697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사용자 자격 증명 도용 </a:t>
            </a:r>
            <a:r>
              <a:rPr kumimoji="1" lang="en-US" altLang="ko-KR" dirty="0"/>
              <a:t>(</a:t>
            </a:r>
            <a:r>
              <a:rPr kumimoji="1" lang="ko-KR" altLang="en-US" dirty="0"/>
              <a:t>공격자 기기 사용</a:t>
            </a:r>
            <a:r>
              <a:rPr kumimoji="1" lang="en-US" altLang="ko-KR" dirty="0"/>
              <a:t>)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원격 공격 혹은 내부자 위협 </a:t>
            </a:r>
            <a:r>
              <a:rPr kumimoji="1" lang="en-US" altLang="ko-KR" dirty="0"/>
              <a:t>(</a:t>
            </a:r>
            <a:r>
              <a:rPr kumimoji="1" lang="ko-KR" altLang="en-US" dirty="0"/>
              <a:t>내부 기기 장악</a:t>
            </a:r>
            <a:r>
              <a:rPr kumimoji="1" lang="en-US" altLang="ko-KR" dirty="0"/>
              <a:t>)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공급망 공격 </a:t>
            </a:r>
            <a:r>
              <a:rPr kumimoji="1" lang="en-US" altLang="ko-KR" dirty="0"/>
              <a:t>(</a:t>
            </a:r>
            <a:r>
              <a:rPr kumimoji="1" lang="ko-KR" altLang="en-US" dirty="0"/>
              <a:t>내부 기기 및 정상 프로그램 장악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8786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4D384-5DBD-D373-3CC5-F1E1B120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6A7D8-145B-698D-957D-05E6F95B7D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50" y="642620"/>
            <a:ext cx="10612120" cy="6057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cap="none" dirty="0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제로 트러스트 </a:t>
            </a:r>
            <a:r>
              <a:rPr lang="ko-KR" altLang="en-US" sz="2000" b="1" cap="none" dirty="0" err="1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도입시</a:t>
            </a:r>
            <a:r>
              <a:rPr lang="ko-KR" altLang="en-US" sz="2000" b="1" cap="none" dirty="0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en-US" altLang="ko-KR" sz="2000" b="1" cap="none" dirty="0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–</a:t>
            </a:r>
            <a:r>
              <a:rPr lang="ko-KR" altLang="en-US" sz="2000" b="1" cap="none" dirty="0">
                <a:solidFill>
                  <a:schemeClr val="tx1"/>
                </a:solidFill>
                <a:latin typeface="맑은 고딕" charset="0"/>
                <a:ea typeface="맑은 고딕" charset="0"/>
                <a:cs typeface="+mn-cs"/>
              </a:rPr>
              <a:t> 사건 재구성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040DBF-55A5-6EB4-B195-9AD02A7877A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9470" cy="36703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17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ABEDBB8B-44BF-C3AE-78F9-0A3A8E52E618}"/>
              </a:ext>
            </a:extLst>
          </p:cNvPr>
          <p:cNvSpPr txBox="1">
            <a:spLocks/>
          </p:cNvSpPr>
          <p:nvPr/>
        </p:nvSpPr>
        <p:spPr>
          <a:xfrm>
            <a:off x="690310" y="1330044"/>
            <a:ext cx="10811380" cy="4859020"/>
          </a:xfrm>
          <a:prstGeom prst="rect">
            <a:avLst/>
          </a:prstGeom>
          <a:noFill/>
          <a:ln w="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vert="horz" wrap="square" lIns="0" tIns="0" rIns="0" bIns="0" numCol="1" anchor="t">
            <a:noAutofit/>
          </a:bodyPr>
          <a:lstStyle/>
          <a:p>
            <a:pPr marL="0" indent="0" latinLnBrk="0">
              <a:buFontTx/>
              <a:buNone/>
            </a:pPr>
            <a:endParaRPr lang="en-US" altLang="ko-KR" sz="2000" b="0" dirty="0"/>
          </a:p>
          <a:p>
            <a:pPr marL="0" indent="0" latinLnBrk="0">
              <a:buFontTx/>
              <a:buNone/>
            </a:pPr>
            <a:endParaRPr lang="en-US" altLang="ko-KR" sz="2000" dirty="0"/>
          </a:p>
          <a:p>
            <a:pPr marL="0" indent="0" latinLnBrk="0">
              <a:buFontTx/>
              <a:buNone/>
            </a:pPr>
            <a:endParaRPr lang="en-US" altLang="ko-KR" sz="2000" b="0" dirty="0"/>
          </a:p>
          <a:p>
            <a:pPr marL="0" indent="0" latinLnBrk="0">
              <a:buFontTx/>
              <a:buNone/>
            </a:pPr>
            <a:endParaRPr lang="en-US" altLang="ko-KR" sz="2000" dirty="0"/>
          </a:p>
          <a:p>
            <a:pPr marL="0" indent="0" latinLnBrk="0">
              <a:buFontTx/>
              <a:buNone/>
            </a:pPr>
            <a:endParaRPr lang="ko-KR" altLang="en-US" sz="20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836E9-898F-6BD0-5831-8E6AB8DA6E28}"/>
              </a:ext>
            </a:extLst>
          </p:cNvPr>
          <p:cNvSpPr txBox="1"/>
          <p:nvPr/>
        </p:nvSpPr>
        <p:spPr>
          <a:xfrm>
            <a:off x="1494156" y="153035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Colonial Pipeline </a:t>
            </a:r>
            <a:r>
              <a:rPr lang="ko-KR" altLang="en-US" b="1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랜섬웨어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공격</a:t>
            </a:r>
            <a:endParaRPr kumimoji="1"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911CD-9D34-F644-A430-F741385C4F96}"/>
              </a:ext>
            </a:extLst>
          </p:cNvPr>
          <p:cNvSpPr txBox="1"/>
          <p:nvPr/>
        </p:nvSpPr>
        <p:spPr>
          <a:xfrm>
            <a:off x="7468870" y="15092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1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MOVEit</a:t>
            </a:r>
            <a:r>
              <a:rPr lang="en" altLang="ko-KR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데이터 유출 사건</a:t>
            </a:r>
            <a:endParaRPr kumimoji="1"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6321F-CDE1-D4FA-AB09-917E51956FC5}"/>
              </a:ext>
            </a:extLst>
          </p:cNvPr>
          <p:cNvSpPr txBox="1"/>
          <p:nvPr/>
        </p:nvSpPr>
        <p:spPr>
          <a:xfrm>
            <a:off x="3807912" y="2240832"/>
            <a:ext cx="435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만약 제로 트러스트가 도입 </a:t>
            </a:r>
            <a:r>
              <a:rPr kumimoji="1" lang="ko-KR" altLang="en-US" dirty="0" err="1"/>
              <a:t>되었었다면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70AB97-4E53-B2CA-2834-E0525B1A40C7}"/>
              </a:ext>
            </a:extLst>
          </p:cNvPr>
          <p:cNvSpPr txBox="1"/>
          <p:nvPr/>
        </p:nvSpPr>
        <p:spPr>
          <a:xfrm>
            <a:off x="1265129" y="2868460"/>
            <a:ext cx="472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다중 인증</a:t>
            </a:r>
            <a:r>
              <a:rPr kumimoji="1" lang="en-US" altLang="ko-KR" dirty="0"/>
              <a:t>(MFA) =&gt;</a:t>
            </a:r>
            <a:r>
              <a:rPr kumimoji="1" lang="ko-KR" altLang="en-US" dirty="0"/>
              <a:t> 계정 탈취 시도 차단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9841E-B7A4-5372-10DA-2A8197629D52}"/>
              </a:ext>
            </a:extLst>
          </p:cNvPr>
          <p:cNvSpPr txBox="1"/>
          <p:nvPr/>
        </p:nvSpPr>
        <p:spPr>
          <a:xfrm>
            <a:off x="1265129" y="4958311"/>
            <a:ext cx="472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Micro – segmentation =&gt; </a:t>
            </a:r>
            <a:r>
              <a:rPr kumimoji="1" lang="ko-KR" altLang="en-US" dirty="0" err="1"/>
              <a:t>랜섬웨어</a:t>
            </a:r>
            <a:r>
              <a:rPr kumimoji="1" lang="ko-KR" altLang="en-US" dirty="0"/>
              <a:t> 확산 차단</a:t>
            </a:r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EE081-34E7-E325-652B-1ED3477782EF}"/>
              </a:ext>
            </a:extLst>
          </p:cNvPr>
          <p:cNvSpPr txBox="1"/>
          <p:nvPr/>
        </p:nvSpPr>
        <p:spPr>
          <a:xfrm>
            <a:off x="1265129" y="3774886"/>
            <a:ext cx="3645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제로 트러스트 정책 </a:t>
            </a:r>
            <a:r>
              <a:rPr kumimoji="1" lang="en-US" altLang="ko-KR" dirty="0"/>
              <a:t>=&gt;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비인가된</a:t>
            </a:r>
            <a:r>
              <a:rPr kumimoji="1" lang="ko-KR" altLang="en-US" dirty="0"/>
              <a:t> 기기나 위치의 공격 예방</a:t>
            </a:r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03EEEE8D-94AE-C95B-A747-3EE844890460}"/>
              </a:ext>
            </a:extLst>
          </p:cNvPr>
          <p:cNvCxnSpPr/>
          <p:nvPr/>
        </p:nvCxnSpPr>
        <p:spPr>
          <a:xfrm>
            <a:off x="6096000" y="2711699"/>
            <a:ext cx="0" cy="3160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E404D2-0487-351A-37FA-1CE25BDB3D5D}"/>
              </a:ext>
            </a:extLst>
          </p:cNvPr>
          <p:cNvSpPr txBox="1"/>
          <p:nvPr/>
        </p:nvSpPr>
        <p:spPr>
          <a:xfrm>
            <a:off x="6601216" y="3294049"/>
            <a:ext cx="4525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ZTNA =&gt; </a:t>
            </a:r>
            <a:r>
              <a:rPr kumimoji="1" lang="ko-KR" altLang="en-US" dirty="0"/>
              <a:t>인증되지 않은 외부 사용자 접근 차단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EC582-2223-2D57-1E62-8DDEB74DFB02}"/>
              </a:ext>
            </a:extLst>
          </p:cNvPr>
          <p:cNvSpPr txBox="1"/>
          <p:nvPr/>
        </p:nvSpPr>
        <p:spPr>
          <a:xfrm>
            <a:off x="6601216" y="4398781"/>
            <a:ext cx="480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다중 인증</a:t>
            </a:r>
            <a:r>
              <a:rPr kumimoji="1" lang="en-US" altLang="ko-KR" dirty="0"/>
              <a:t>(MFA) =&gt; </a:t>
            </a:r>
            <a:r>
              <a:rPr kumimoji="1" lang="ko-KR" altLang="en-US" dirty="0"/>
              <a:t>민감한 정보 접근 힘듦</a:t>
            </a:r>
          </a:p>
        </p:txBody>
      </p:sp>
    </p:spTree>
    <p:extLst>
      <p:ext uri="{BB962C8B-B14F-4D97-AF65-F5344CB8AC3E}">
        <p14:creationId xmlns:p14="http://schemas.microsoft.com/office/powerpoint/2010/main" val="285974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136E-C6DE-AE75-E64F-344FE03D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A18B2-B3CE-7E0B-20FC-7E560EFA57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50" y="642620"/>
            <a:ext cx="10612120" cy="6057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en-US" altLang="ko-KR" sz="2000" b="1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COVID – 19 </a:t>
            </a:r>
            <a:r>
              <a:rPr lang="ko-KR" altLang="en-US" sz="2000" b="1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이후 일반화된 원격 근무 환경</a:t>
            </a:r>
            <a:endParaRPr lang="ko-KR" altLang="en-US" sz="2000" b="1" cap="none" dirty="0">
              <a:solidFill>
                <a:schemeClr val="tx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6E38C6-FD3B-9820-3856-9F13C3BD5C7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9470" cy="36703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18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8" name="그림 7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BF4808-02B3-F6AC-4FF8-247F438B2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0" y="1437518"/>
            <a:ext cx="10612119" cy="45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26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9765-932C-5CFB-57AC-488F9721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92C6F-35CD-8006-367F-B6575826D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50" y="642620"/>
            <a:ext cx="10612120" cy="6057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rtl="0" latinLnBrk="0">
              <a:buFontTx/>
              <a:buNone/>
            </a:pPr>
            <a:r>
              <a:rPr lang="ko-KR" altLang="en-US" sz="2000" b="1" dirty="0">
                <a:solidFill>
                  <a:schemeClr val="tx1"/>
                </a:solidFill>
                <a:latin typeface="맑은 고딕" charset="0"/>
                <a:ea typeface="맑은 고딕" charset="0"/>
              </a:rPr>
              <a:t>원격 근무 환경에 제로 트러스트 참조 모델</a:t>
            </a:r>
            <a:endParaRPr lang="ko-KR" altLang="en-US" sz="2000" b="1" cap="none" dirty="0">
              <a:solidFill>
                <a:schemeClr val="tx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A223F-0DA0-FACB-0B4E-07B84DAAF9D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9470" cy="36703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en-US" altLang="ko-KR" sz="1000">
                <a:latin typeface="맑은 고딕" charset="0"/>
                <a:ea typeface="맑은 고딕" charset="0"/>
                <a:cs typeface="+mn-cs"/>
              </a:rPr>
              <a:t>19</a:t>
            </a:fld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71E0C-21FB-DAFE-5E4B-FD3A9B6A6CD2}"/>
              </a:ext>
            </a:extLst>
          </p:cNvPr>
          <p:cNvSpPr txBox="1"/>
          <p:nvPr/>
        </p:nvSpPr>
        <p:spPr>
          <a:xfrm>
            <a:off x="5272088" y="8572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8" name="그림 7" descr="텍스트, 도표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3B2B44-A9A9-7BB0-6EBC-14E3B01DB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8" y="1138393"/>
            <a:ext cx="10901363" cy="500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17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191A4-7839-4F63-B17C-7C366C59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6"/>
            <a:ext cx="10058400" cy="1371600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 err="1"/>
              <a:t>제로트러스트에</a:t>
            </a:r>
            <a:r>
              <a:rPr lang="ko-KR" altLang="en-US" b="1" dirty="0"/>
              <a:t> 대한 개념적 오해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FF8AFF9F-9657-4E4F-8E4D-4E0A2834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00E112-329B-1629-EE30-4C5F495CF3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7" t="4472" r="-8357" b="4472"/>
          <a:stretch/>
        </p:blipFill>
        <p:spPr>
          <a:xfrm>
            <a:off x="686285" y="1929416"/>
            <a:ext cx="4968716" cy="332962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F8A331F1-4A12-B9F2-354F-02235F9BD636}"/>
              </a:ext>
            </a:extLst>
          </p:cNvPr>
          <p:cNvGrpSpPr/>
          <p:nvPr/>
        </p:nvGrpSpPr>
        <p:grpSpPr>
          <a:xfrm>
            <a:off x="5655001" y="2251527"/>
            <a:ext cx="5933266" cy="3007509"/>
            <a:chOff x="5454432" y="1978202"/>
            <a:chExt cx="5933266" cy="300750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78DC13-AC54-01F9-82EE-F73E3C0A1285}"/>
                </a:ext>
              </a:extLst>
            </p:cNvPr>
            <p:cNvSpPr txBox="1"/>
            <p:nvPr/>
          </p:nvSpPr>
          <p:spPr>
            <a:xfrm>
              <a:off x="5837881" y="2555569"/>
              <a:ext cx="546600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1) </a:t>
              </a:r>
              <a:r>
                <a:rPr lang="ko-KR" altLang="en-US" dirty="0"/>
                <a:t>모든 공격을 원천 차단하는 보안기술 </a:t>
              </a:r>
              <a:endParaRPr lang="en-US" altLang="ko-KR" dirty="0"/>
            </a:p>
            <a:p>
              <a:r>
                <a:rPr lang="en-US" altLang="ko-KR" dirty="0"/>
                <a:t>2) </a:t>
              </a:r>
              <a:r>
                <a:rPr lang="ko-KR" altLang="en-US" dirty="0"/>
                <a:t>내부 네트워크의  모든 신뢰를 제거하는</a:t>
              </a:r>
              <a:endParaRPr lang="en-US" altLang="ko-KR" dirty="0"/>
            </a:p>
            <a:p>
              <a:r>
                <a:rPr lang="ko-KR" altLang="en-US" dirty="0"/>
                <a:t> 절대적인 보안방식 </a:t>
              </a:r>
              <a:endParaRPr lang="en-US" altLang="ko-KR" dirty="0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D66B761-BC63-17BE-3896-CFC695B708AF}"/>
                </a:ext>
              </a:extLst>
            </p:cNvPr>
            <p:cNvGrpSpPr/>
            <p:nvPr/>
          </p:nvGrpSpPr>
          <p:grpSpPr>
            <a:xfrm>
              <a:off x="5454432" y="1978202"/>
              <a:ext cx="5472936" cy="2699934"/>
              <a:chOff x="5903686" y="1978202"/>
              <a:chExt cx="5472936" cy="2699934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AE36D568-21D8-F910-32F8-C81A1F56C8E4}"/>
                  </a:ext>
                </a:extLst>
              </p:cNvPr>
              <p:cNvGrpSpPr/>
              <p:nvPr/>
            </p:nvGrpSpPr>
            <p:grpSpPr>
              <a:xfrm>
                <a:off x="5910620" y="1978202"/>
                <a:ext cx="5466002" cy="528750"/>
                <a:chOff x="5910620" y="1978202"/>
                <a:chExt cx="4707380" cy="345820"/>
              </a:xfrm>
            </p:grpSpPr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4CB5576B-D351-9ACC-B69C-56BD5E9D3F5E}"/>
                    </a:ext>
                  </a:extLst>
                </p:cNvPr>
                <p:cNvGrpSpPr/>
                <p:nvPr/>
              </p:nvGrpSpPr>
              <p:grpSpPr>
                <a:xfrm>
                  <a:off x="5910620" y="1978202"/>
                  <a:ext cx="370759" cy="345820"/>
                  <a:chOff x="5848872" y="2005681"/>
                  <a:chExt cx="370672" cy="365760"/>
                </a:xfrm>
              </p:grpSpPr>
              <p:sp>
                <p:nvSpPr>
                  <p:cNvPr id="4" name="Shape 1">
                    <a:extLst>
                      <a:ext uri="{FF2B5EF4-FFF2-40B4-BE49-F238E27FC236}">
                        <a16:creationId xmlns:a16="http://schemas.microsoft.com/office/drawing/2014/main" id="{61ADCC74-2BC0-4DC7-D87D-288FA5E212B4}"/>
                      </a:ext>
                    </a:extLst>
                  </p:cNvPr>
                  <p:cNvSpPr/>
                  <p:nvPr/>
                </p:nvSpPr>
                <p:spPr>
                  <a:xfrm>
                    <a:off x="5848872" y="2005681"/>
                    <a:ext cx="370672" cy="365760"/>
                  </a:xfrm>
                  <a:prstGeom prst="roundRect">
                    <a:avLst>
                      <a:gd name="adj" fmla="val 40005"/>
                    </a:avLst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/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pic>
                <p:nvPicPr>
                  <p:cNvPr id="5" name="Image 0" descr="preencoded.png">
                    <a:extLst>
                      <a:ext uri="{FF2B5EF4-FFF2-40B4-BE49-F238E27FC236}">
                        <a16:creationId xmlns:a16="http://schemas.microsoft.com/office/drawing/2014/main" id="{06EA40F3-B710-82C8-0A5F-685ADE628D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5910708" y="2036147"/>
                    <a:ext cx="247086" cy="30482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" name="그룹 6">
                  <a:extLst>
                    <a:ext uri="{FF2B5EF4-FFF2-40B4-BE49-F238E27FC236}">
                      <a16:creationId xmlns:a16="http://schemas.microsoft.com/office/drawing/2014/main" id="{9F1D0B77-7E8B-780D-43A4-1502E048F56D}"/>
                    </a:ext>
                  </a:extLst>
                </p:cNvPr>
                <p:cNvGrpSpPr/>
                <p:nvPr/>
              </p:nvGrpSpPr>
              <p:grpSpPr>
                <a:xfrm>
                  <a:off x="6281380" y="1998142"/>
                  <a:ext cx="4336620" cy="325880"/>
                  <a:chOff x="3555408" y="236815"/>
                  <a:chExt cx="2947582" cy="956587"/>
                </a:xfrm>
              </p:grpSpPr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CFDAF049-A61B-4D7B-16AF-279D7F6DDF2A}"/>
                      </a:ext>
                    </a:extLst>
                  </p:cNvPr>
                  <p:cNvSpPr/>
                  <p:nvPr/>
                </p:nvSpPr>
                <p:spPr>
                  <a:xfrm>
                    <a:off x="3555408" y="236815"/>
                    <a:ext cx="2947582" cy="956587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42C4A80F-7218-CDF1-C109-777B36C81C1F}"/>
                      </a:ext>
                    </a:extLst>
                  </p:cNvPr>
                  <p:cNvSpPr txBox="1"/>
                  <p:nvPr/>
                </p:nvSpPr>
                <p:spPr>
                  <a:xfrm>
                    <a:off x="3555408" y="236815"/>
                    <a:ext cx="2947582" cy="956587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14300" tIns="114300" rIns="114300" bIns="114300" numCol="1" spcCol="1270" rtlCol="0" anchor="ctr" anchorCtr="0">
                    <a:noAutofit/>
                  </a:bodyPr>
                  <a:lstStyle/>
                  <a:p>
                    <a:pPr marL="0" lvl="0" indent="0" algn="l" defTabSz="5334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ko-KR" altLang="en-US" kern="1200" noProof="0" dirty="0" err="1">
                        <a:latin typeface="+mn-ea"/>
                      </a:rPr>
                      <a:t>제로트러스트에</a:t>
                    </a:r>
                    <a:r>
                      <a:rPr lang="ko-KR" altLang="en-US" kern="1200" noProof="0" dirty="0">
                        <a:latin typeface="+mn-ea"/>
                      </a:rPr>
                      <a:t> 대한 기</a:t>
                    </a:r>
                    <a:r>
                      <a:rPr lang="ko-KR" altLang="en-US" dirty="0">
                        <a:latin typeface="+mn-ea"/>
                      </a:rPr>
                      <a:t>업 내부의 인식 부족</a:t>
                    </a:r>
                    <a:endParaRPr lang="ko-KR" altLang="en-US" kern="1200" noProof="0" dirty="0">
                      <a:latin typeface="+mn-ea"/>
                    </a:endParaRPr>
                  </a:p>
                </p:txBody>
              </p:sp>
            </p:grpSp>
          </p:grpSp>
          <p:pic>
            <p:nvPicPr>
              <p:cNvPr id="34" name="그래픽 33" descr="갈매기형 화살표 단색으로 채워진">
                <a:extLst>
                  <a:ext uri="{FF2B5EF4-FFF2-40B4-BE49-F238E27FC236}">
                    <a16:creationId xmlns:a16="http://schemas.microsoft.com/office/drawing/2014/main" id="{9E4DAF1B-B69C-EC6A-2ED5-FFF0F02203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921375" y="2570717"/>
                <a:ext cx="365760" cy="365760"/>
              </a:xfrm>
              <a:prstGeom prst="rect">
                <a:avLst/>
              </a:prstGeom>
            </p:spPr>
          </p:pic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3842035F-5056-78CF-5D44-286932A29A5A}"/>
                  </a:ext>
                </a:extLst>
              </p:cNvPr>
              <p:cNvGrpSpPr/>
              <p:nvPr/>
            </p:nvGrpSpPr>
            <p:grpSpPr>
              <a:xfrm>
                <a:off x="5903686" y="3589474"/>
                <a:ext cx="5466002" cy="598561"/>
                <a:chOff x="5910620" y="1978202"/>
                <a:chExt cx="4707380" cy="391479"/>
              </a:xfrm>
            </p:grpSpPr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7BA6D8AF-A295-13F0-2942-85C5A8AE2C3F}"/>
                    </a:ext>
                  </a:extLst>
                </p:cNvPr>
                <p:cNvGrpSpPr/>
                <p:nvPr/>
              </p:nvGrpSpPr>
              <p:grpSpPr>
                <a:xfrm>
                  <a:off x="5910620" y="1978202"/>
                  <a:ext cx="370759" cy="345820"/>
                  <a:chOff x="5848872" y="2005681"/>
                  <a:chExt cx="370672" cy="365760"/>
                </a:xfrm>
              </p:grpSpPr>
              <p:sp>
                <p:nvSpPr>
                  <p:cNvPr id="42" name="Shape 1">
                    <a:extLst>
                      <a:ext uri="{FF2B5EF4-FFF2-40B4-BE49-F238E27FC236}">
                        <a16:creationId xmlns:a16="http://schemas.microsoft.com/office/drawing/2014/main" id="{F3EB96BB-DBD4-9C7A-2BA5-022D61FD4124}"/>
                      </a:ext>
                    </a:extLst>
                  </p:cNvPr>
                  <p:cNvSpPr/>
                  <p:nvPr/>
                </p:nvSpPr>
                <p:spPr>
                  <a:xfrm>
                    <a:off x="5848872" y="2005681"/>
                    <a:ext cx="370672" cy="365760"/>
                  </a:xfrm>
                  <a:prstGeom prst="roundRect">
                    <a:avLst>
                      <a:gd name="adj" fmla="val 40005"/>
                    </a:avLst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/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pic>
                <p:nvPicPr>
                  <p:cNvPr id="43" name="Image 0" descr="preencoded.png">
                    <a:extLst>
                      <a:ext uri="{FF2B5EF4-FFF2-40B4-BE49-F238E27FC236}">
                        <a16:creationId xmlns:a16="http://schemas.microsoft.com/office/drawing/2014/main" id="{7A877F27-4F13-D921-A8F4-40791B0168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5910708" y="2036147"/>
                    <a:ext cx="247086" cy="30482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E1689EBF-C162-8B53-2283-F897250D403A}"/>
                    </a:ext>
                  </a:extLst>
                </p:cNvPr>
                <p:cNvGrpSpPr/>
                <p:nvPr/>
              </p:nvGrpSpPr>
              <p:grpSpPr>
                <a:xfrm>
                  <a:off x="6281380" y="1998142"/>
                  <a:ext cx="4336620" cy="371539"/>
                  <a:chOff x="3555408" y="236815"/>
                  <a:chExt cx="2947582" cy="1090615"/>
                </a:xfrm>
              </p:grpSpPr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463CA298-7F30-6333-D2EE-8CFCC3ED7CBF}"/>
                      </a:ext>
                    </a:extLst>
                  </p:cNvPr>
                  <p:cNvSpPr/>
                  <p:nvPr/>
                </p:nvSpPr>
                <p:spPr>
                  <a:xfrm>
                    <a:off x="3555408" y="236815"/>
                    <a:ext cx="2947582" cy="956587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55E15BC-AA13-4091-6B3E-D2A28B14191D}"/>
                      </a:ext>
                    </a:extLst>
                  </p:cNvPr>
                  <p:cNvSpPr txBox="1"/>
                  <p:nvPr/>
                </p:nvSpPr>
                <p:spPr>
                  <a:xfrm>
                    <a:off x="3555408" y="370843"/>
                    <a:ext cx="2947582" cy="956587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14300" tIns="114300" rIns="114300" bIns="114300" numCol="1" spcCol="1270" rtlCol="0" anchor="ctr" anchorCtr="0">
                    <a:noAutofit/>
                  </a:bodyPr>
                  <a:lstStyle/>
                  <a:p>
                    <a:pPr marL="0" lvl="0" indent="0" algn="l" defTabSz="5334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ko-KR" altLang="ko-KR" sz="1800" dirty="0">
                        <a:effectLst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a:t> </a:t>
                    </a:r>
                    <a:r>
                      <a:rPr lang="ko-KR" altLang="ko-KR" sz="1800" dirty="0" err="1">
                        <a:effectLst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a:t>제로트러스트의</a:t>
                    </a:r>
                    <a:r>
                      <a:rPr lang="ko-KR" altLang="ko-KR" sz="1800" dirty="0">
                        <a:effectLst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a:t> 본질적인 철학과 </a:t>
                    </a:r>
                    <a:endParaRPr lang="en-US" altLang="ko-KR" sz="1800" dirty="0">
                      <a:effectLst/>
                      <a:ea typeface="맑은 고딕" panose="020B0503020000020004" pitchFamily="50" charset="-127"/>
                      <a:cs typeface="Times New Roman" panose="02020603050405020304" pitchFamily="18" charset="0"/>
                    </a:endParaRPr>
                  </a:p>
                  <a:p>
                    <a:pPr marL="0" lvl="0" indent="0" algn="l" defTabSz="5334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ko-KR" altLang="ko-KR" sz="1800" dirty="0">
                        <a:effectLst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a:t>운영 원리</a:t>
                    </a:r>
                    <a:r>
                      <a:rPr lang="ko-KR" altLang="en-US" sz="1800" dirty="0">
                        <a:effectLst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a:t>에 대한 이해 부족</a:t>
                    </a:r>
                    <a:endParaRPr lang="ko-KR" altLang="en-US" kern="1200" noProof="0" dirty="0">
                      <a:latin typeface="+mn-ea"/>
                    </a:endParaRPr>
                  </a:p>
                </p:txBody>
              </p:sp>
            </p:grpSp>
          </p:grpSp>
          <p:pic>
            <p:nvPicPr>
              <p:cNvPr id="44" name="그래픽 43" descr="갈매기형 화살표 단색으로 채워진">
                <a:extLst>
                  <a:ext uri="{FF2B5EF4-FFF2-40B4-BE49-F238E27FC236}">
                    <a16:creationId xmlns:a16="http://schemas.microsoft.com/office/drawing/2014/main" id="{36E3040F-3E31-E32E-BE20-CB601D19F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936060" y="4312376"/>
                <a:ext cx="365760" cy="36576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E40E92-5D5C-272F-8AF9-D746EC4113DF}"/>
                </a:ext>
              </a:extLst>
            </p:cNvPr>
            <p:cNvSpPr txBox="1"/>
            <p:nvPr/>
          </p:nvSpPr>
          <p:spPr>
            <a:xfrm>
              <a:off x="5921695" y="4339380"/>
              <a:ext cx="54660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800" dirty="0">
                  <a:effectLst/>
                  <a:latin typeface="맑은 고딕" panose="020B0503020000020004" pitchFamily="50" charset="-127"/>
                  <a:cs typeface="Times New Roman" panose="02020603050405020304" pitchFamily="18" charset="0"/>
                </a:rPr>
                <a:t>1)</a:t>
              </a:r>
              <a:r>
                <a:rPr lang="ko-KR" altLang="ko-KR" sz="18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지속적인 신뢰도 검증</a:t>
              </a:r>
              <a:endPara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r>
                <a:rPr lang="en-US" altLang="ko-KR" sz="1800" dirty="0">
                  <a:effectLst/>
                  <a:latin typeface="맑은 고딕" panose="020B0503020000020004" pitchFamily="50" charset="-127"/>
                  <a:cs typeface="Times New Roman" panose="02020603050405020304" pitchFamily="18" charset="0"/>
                </a:rPr>
                <a:t>2)</a:t>
              </a:r>
              <a:r>
                <a:rPr lang="ko-KR" altLang="ko-KR" sz="18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정밀하고 동적인 접근 통제</a:t>
              </a:r>
              <a:endParaRPr lang="en-US" altLang="ko-KR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57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02759-CF74-B540-BC0E-FDB783F1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BAADE-E7B5-20DC-5E8E-600FFB64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6"/>
            <a:ext cx="10058400" cy="1371600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해결방법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6750A83D-A744-7AAD-40C8-E33F3EF0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E30EB17-BA59-95C1-CFFB-439210EE3632}"/>
              </a:ext>
            </a:extLst>
          </p:cNvPr>
          <p:cNvGrpSpPr/>
          <p:nvPr/>
        </p:nvGrpSpPr>
        <p:grpSpPr>
          <a:xfrm>
            <a:off x="1155290" y="1929416"/>
            <a:ext cx="11600060" cy="1887032"/>
            <a:chOff x="1155290" y="1929416"/>
            <a:chExt cx="11600060" cy="1887032"/>
          </a:xfrm>
        </p:grpSpPr>
        <p:sp>
          <p:nvSpPr>
            <p:cNvPr id="6" name="화살표: 오른쪽 5">
              <a:extLst>
                <a:ext uri="{FF2B5EF4-FFF2-40B4-BE49-F238E27FC236}">
                  <a16:creationId xmlns:a16="http://schemas.microsoft.com/office/drawing/2014/main" id="{93F58466-6CF9-245B-901F-F1BFEBDD37DB}"/>
                </a:ext>
              </a:extLst>
            </p:cNvPr>
            <p:cNvSpPr/>
            <p:nvPr/>
          </p:nvSpPr>
          <p:spPr>
            <a:xfrm>
              <a:off x="1919425" y="2480898"/>
              <a:ext cx="1170815" cy="691605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F3311D-85E8-7735-4E2E-AF825B128A62}"/>
                </a:ext>
              </a:extLst>
            </p:cNvPr>
            <p:cNvSpPr txBox="1"/>
            <p:nvPr/>
          </p:nvSpPr>
          <p:spPr>
            <a:xfrm>
              <a:off x="1155290" y="1929416"/>
              <a:ext cx="82453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 b="1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조직 전반에 걸친 체계적인 교육과 커뮤니케이션</a:t>
              </a:r>
              <a:endPara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D2877F-8DA7-1704-A48F-B2DFC8FFA687}"/>
                </a:ext>
              </a:extLst>
            </p:cNvPr>
            <p:cNvSpPr txBox="1"/>
            <p:nvPr/>
          </p:nvSpPr>
          <p:spPr>
            <a:xfrm>
              <a:off x="3090240" y="2493009"/>
              <a:ext cx="966511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내부 사용자</a:t>
              </a:r>
              <a:r>
                <a:rPr lang="en-US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관리자</a:t>
              </a:r>
              <a:r>
                <a:rPr lang="en-US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경영진을 대상으로 </a:t>
              </a:r>
              <a:endPara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r>
                <a:rPr lang="en-US" altLang="ko-KR" sz="2000" dirty="0">
                  <a:ea typeface="맑은 고딕" panose="020B0503020000020004" pitchFamily="50" charset="-127"/>
                  <a:cs typeface="Times New Roman" panose="02020603050405020304" pitchFamily="18" charset="0"/>
                </a:rPr>
                <a:t>      </a:t>
              </a: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개념 </a:t>
              </a:r>
              <a:r>
                <a:rPr lang="ko-KR" altLang="en-US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재정립</a:t>
              </a:r>
              <a:r>
                <a:rPr lang="en-US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적용 사례 공유</a:t>
              </a:r>
              <a:r>
                <a:rPr lang="en-US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목표 명확화</a:t>
              </a:r>
              <a:endPara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전용 홈페이지 및 가이드북을 통해 제도적 이해 기반을 확립</a:t>
              </a:r>
              <a:endParaRPr lang="ko-KR" altLang="en-US" sz="2000" dirty="0"/>
            </a:p>
            <a:p>
              <a:endPara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7746468-56BA-B886-F82E-470C34B17A03}"/>
              </a:ext>
            </a:extLst>
          </p:cNvPr>
          <p:cNvGrpSpPr/>
          <p:nvPr/>
        </p:nvGrpSpPr>
        <p:grpSpPr>
          <a:xfrm>
            <a:off x="1155290" y="3991421"/>
            <a:ext cx="11728396" cy="1262197"/>
            <a:chOff x="1155290" y="1929416"/>
            <a:chExt cx="11728396" cy="1262197"/>
          </a:xfrm>
        </p:grpSpPr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22A73C57-59B5-E433-7B9A-245BD61A597A}"/>
                </a:ext>
              </a:extLst>
            </p:cNvPr>
            <p:cNvSpPr/>
            <p:nvPr/>
          </p:nvSpPr>
          <p:spPr>
            <a:xfrm>
              <a:off x="1919425" y="2480898"/>
              <a:ext cx="1170815" cy="691605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A94AD08-1D25-D28F-9999-23F0AD03ADBD}"/>
                </a:ext>
              </a:extLst>
            </p:cNvPr>
            <p:cNvSpPr txBox="1"/>
            <p:nvPr/>
          </p:nvSpPr>
          <p:spPr>
            <a:xfrm>
              <a:off x="1155290" y="1929416"/>
              <a:ext cx="887102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400" b="1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실증 사업을 통해 우수한 도입 사례를 적극적으로 발굴하고 홍보</a:t>
              </a:r>
              <a:endParaRPr lang="en-US" altLang="ko-KR" sz="24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A13A3B-FE5F-277D-38C5-D397BCE4E5B8}"/>
                </a:ext>
              </a:extLst>
            </p:cNvPr>
            <p:cNvSpPr txBox="1"/>
            <p:nvPr/>
          </p:nvSpPr>
          <p:spPr>
            <a:xfrm>
              <a:off x="3218576" y="2483727"/>
              <a:ext cx="966511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000" dirty="0" err="1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제로트러스트</a:t>
              </a:r>
              <a:r>
                <a:rPr lang="ko-KR" altLang="ko-KR" sz="20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rPr>
                <a:t> 도입에 대한 체감 효과를 확산</a:t>
              </a:r>
              <a:endPara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r>
                <a:rPr lang="en-US" altLang="ko-KR" sz="2000" dirty="0">
                  <a:ea typeface="맑은 고딕" panose="020B0503020000020004" pitchFamily="50" charset="-127"/>
                  <a:cs typeface="Times New Roman" panose="02020603050405020304" pitchFamily="18" charset="0"/>
                </a:rPr>
                <a:t>-&gt; </a:t>
              </a:r>
              <a:r>
                <a:rPr lang="ko-KR" altLang="en-US" sz="2000" dirty="0" err="1">
                  <a:ea typeface="맑은 고딕" panose="020B0503020000020004" pitchFamily="50" charset="-127"/>
                  <a:cs typeface="Times New Roman" panose="02020603050405020304" pitchFamily="18" charset="0"/>
                </a:rPr>
                <a:t>제로트러스트에</a:t>
              </a:r>
              <a:r>
                <a:rPr lang="ko-KR" altLang="en-US" sz="2000" dirty="0">
                  <a:ea typeface="맑은 고딕" panose="020B0503020000020004" pitchFamily="50" charset="-127"/>
                  <a:cs typeface="Times New Roman" panose="02020603050405020304" pitchFamily="18" charset="0"/>
                </a:rPr>
                <a:t> 대한 관심 증진</a:t>
              </a:r>
              <a:endPara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9465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5A881-4EF7-9772-8BC3-B3C10152E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D2963-6F32-438E-294C-782DB82E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6"/>
            <a:ext cx="10058400" cy="1623910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 err="1"/>
              <a:t>제로트러스트의</a:t>
            </a:r>
            <a:r>
              <a:rPr lang="en-US" altLang="ko-KR" b="1" dirty="0"/>
              <a:t> </a:t>
            </a:r>
            <a:r>
              <a:rPr lang="ko-KR" altLang="en-US" b="1" dirty="0"/>
              <a:t>단일 보안기술 </a:t>
            </a:r>
            <a:br>
              <a:rPr lang="en-US" altLang="ko-KR" b="1" dirty="0"/>
            </a:br>
            <a:r>
              <a:rPr lang="ko-KR" altLang="en-US" b="1" dirty="0"/>
              <a:t>중심 인식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D00576F-791D-95EC-11A7-64D552A0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262AEC4C-0564-5EFB-42F7-3CA6FDE4D245}"/>
              </a:ext>
            </a:extLst>
          </p:cNvPr>
          <p:cNvSpPr/>
          <p:nvPr/>
        </p:nvSpPr>
        <p:spPr>
          <a:xfrm>
            <a:off x="1287241" y="2675974"/>
            <a:ext cx="9044448" cy="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단일 보안 기술 또는 특정 솔루션의 도입으로 이해</a:t>
            </a:r>
            <a:endParaRPr lang="en-US" altLang="ko-KR" sz="20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l">
              <a:lnSpc>
                <a:spcPts val="2850"/>
              </a:lnSpc>
            </a:pPr>
            <a:r>
              <a:rPr lang="en-US" altLang="ko-KR" sz="2000" dirty="0">
                <a:ea typeface="맑은 고딕" panose="020B0503020000020004" pitchFamily="50" charset="-127"/>
                <a:cs typeface="Times New Roman" panose="02020603050405020304" pitchFamily="18" charset="0"/>
              </a:rPr>
              <a:t>     </a:t>
            </a:r>
            <a:r>
              <a:rPr lang="ko-KR" altLang="en-US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해당 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솔루션 하나만으로도 </a:t>
            </a:r>
            <a:r>
              <a:rPr lang="ko-KR" altLang="ko-KR" sz="20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체계를 완성할 수 있다고 착각</a:t>
            </a:r>
            <a:endParaRPr 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3A69D63-297B-64F6-BD7A-757A254BF0F9}"/>
              </a:ext>
            </a:extLst>
          </p:cNvPr>
          <p:cNvSpPr/>
          <p:nvPr/>
        </p:nvSpPr>
        <p:spPr>
          <a:xfrm>
            <a:off x="1287241" y="3612279"/>
            <a:ext cx="7712953" cy="7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ko-KR" sz="20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제로트러스트가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기존의 경계 기반 보안 모델을 완전히 대체하며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이를 위해 모든 레거시 보안 체계를 제거해야 한다고 오해</a:t>
            </a:r>
            <a:endParaRPr 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557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1A15D-BA3F-D2D0-71B4-5B8C1C60F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87777-23A0-020F-8EF5-147A2751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5"/>
            <a:ext cx="10058400" cy="1822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 err="1"/>
              <a:t>제로트러스트의</a:t>
            </a:r>
            <a:br>
              <a:rPr lang="en-US" altLang="ko-KR" b="1" dirty="0"/>
            </a:br>
            <a:r>
              <a:rPr lang="ko-KR" altLang="en-US" b="1" dirty="0"/>
              <a:t>단일 보안기술 중심 인식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ECFE3549-7602-03B0-7D99-0FFFD6DE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74C5F322-1C6A-7B6C-31A7-3BA9B9F219B4}"/>
              </a:ext>
            </a:extLst>
          </p:cNvPr>
          <p:cNvSpPr/>
          <p:nvPr/>
        </p:nvSpPr>
        <p:spPr>
          <a:xfrm>
            <a:off x="978310" y="2644733"/>
            <a:ext cx="1247984" cy="52939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23E604-FA2D-D4AD-29BF-AAE7B71DB85B}"/>
              </a:ext>
            </a:extLst>
          </p:cNvPr>
          <p:cNvSpPr txBox="1"/>
          <p:nvPr/>
        </p:nvSpPr>
        <p:spPr>
          <a:xfrm>
            <a:off x="2281464" y="2644733"/>
            <a:ext cx="845275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200" dirty="0" err="1">
                <a:effectLst/>
                <a:latin typeface="+mn-ea"/>
                <a:cs typeface="Times New Roman" panose="02020603050405020304" pitchFamily="18" charset="0"/>
              </a:rPr>
              <a:t>제로트러스트는</a:t>
            </a:r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 단일 기술이나 특정 구성 요소에 의해 실현</a:t>
            </a:r>
            <a:r>
              <a:rPr lang="en-US" altLang="ko-KR" sz="2200" b="1" dirty="0">
                <a:effectLst/>
                <a:latin typeface="+mn-ea"/>
                <a:cs typeface="Times New Roman" panose="02020603050405020304" pitchFamily="18" charset="0"/>
              </a:rPr>
              <a:t> X</a:t>
            </a:r>
          </a:p>
          <a:p>
            <a:endParaRPr lang="en-US" altLang="ko-KR" sz="2200" b="1" dirty="0">
              <a:latin typeface="+mn-ea"/>
              <a:cs typeface="Times New Roman" panose="02020603050405020304" pitchFamily="18" charset="0"/>
            </a:endParaRPr>
          </a:p>
          <a:p>
            <a:r>
              <a:rPr lang="ko-KR" altLang="ko-KR" sz="2200" dirty="0" err="1">
                <a:effectLst/>
                <a:latin typeface="+mn-ea"/>
                <a:cs typeface="Times New Roman" panose="02020603050405020304" pitchFamily="18" charset="0"/>
              </a:rPr>
              <a:t>제로트러스트는</a:t>
            </a:r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 모든 조직에 동일하게 적용되는 고정된 모델</a:t>
            </a:r>
            <a:r>
              <a:rPr lang="en-US" altLang="ko-KR" sz="2200" b="1" dirty="0">
                <a:effectLst/>
                <a:latin typeface="+mn-ea"/>
                <a:cs typeface="Times New Roman" panose="02020603050405020304" pitchFamily="18" charset="0"/>
              </a:rPr>
              <a:t>X</a:t>
            </a:r>
          </a:p>
          <a:p>
            <a:endParaRPr lang="en-US" altLang="ko-KR" sz="2200" dirty="0">
              <a:latin typeface="+mn-ea"/>
              <a:cs typeface="Times New Roman" panose="02020603050405020304" pitchFamily="18" charset="0"/>
            </a:endParaRPr>
          </a:p>
          <a:p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조직의 자산</a:t>
            </a:r>
            <a:r>
              <a:rPr lang="en-US" altLang="ko-KR" sz="2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사용자</a:t>
            </a:r>
            <a:r>
              <a:rPr lang="en-US" altLang="ko-KR" sz="2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기기</a:t>
            </a:r>
            <a:r>
              <a:rPr lang="en-US" altLang="ko-KR" sz="2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애플리케이션</a:t>
            </a:r>
            <a:r>
              <a:rPr lang="en-US" altLang="ko-KR" sz="2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네트워크 전반에 걸쳐 </a:t>
            </a:r>
            <a:endParaRPr lang="en-US" altLang="ko-KR" sz="22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ko-KR" altLang="ko-KR" sz="2200" dirty="0">
                <a:effectLst/>
                <a:latin typeface="+mn-ea"/>
                <a:cs typeface="Times New Roman" panose="02020603050405020304" pitchFamily="18" charset="0"/>
              </a:rPr>
              <a:t>신뢰를 지속적으로 평가하고 정책적으로 통제하는 철학 기반의 아키텍처</a:t>
            </a:r>
            <a:endParaRPr lang="en-US" altLang="ko-KR" sz="22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833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CAD91-2A91-3F06-C8D9-A19C0155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14256-9B26-FBA1-8D70-6348F1148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5"/>
            <a:ext cx="10058400" cy="1822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 err="1"/>
              <a:t>제로트러스트의</a:t>
            </a:r>
            <a:br>
              <a:rPr lang="en-US" altLang="ko-KR" b="1" dirty="0"/>
            </a:br>
            <a:r>
              <a:rPr lang="ko-KR" altLang="en-US" b="1" dirty="0"/>
              <a:t>단일 보안기술 중심 인식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CAE13F3F-53AD-1D3B-3F79-D141DFFF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F8C518-21C1-09A6-EDB3-67120DAFC389}"/>
              </a:ext>
            </a:extLst>
          </p:cNvPr>
          <p:cNvSpPr/>
          <p:nvPr/>
        </p:nvSpPr>
        <p:spPr>
          <a:xfrm>
            <a:off x="3252690" y="4251063"/>
            <a:ext cx="8095447" cy="1250887"/>
          </a:xfrm>
          <a:prstGeom prst="roundRect">
            <a:avLst>
              <a:gd name="adj" fmla="val 1562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ctr"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제로트러스트는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하나의 제품이나 솔루션만으로 </a:t>
            </a: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완결될 수 없는 </a:t>
            </a:r>
            <a:endParaRPr lang="en-US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 latinLnBrk="1">
              <a:spcAft>
                <a:spcPts val="800"/>
              </a:spcAft>
            </a:pP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다층적 보안 모델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!</a:t>
            </a:r>
            <a:endParaRPr lang="ko-KR" altLang="ko-KR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4BFC2-E017-86C5-8086-59D52612A31A}"/>
              </a:ext>
            </a:extLst>
          </p:cNvPr>
          <p:cNvSpPr txBox="1"/>
          <p:nvPr/>
        </p:nvSpPr>
        <p:spPr>
          <a:xfrm>
            <a:off x="1656227" y="2562918"/>
            <a:ext cx="917468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500" dirty="0">
                <a:effectLst/>
                <a:latin typeface="+mn-ea"/>
                <a:cs typeface="Times New Roman" panose="02020603050405020304" pitchFamily="18" charset="0"/>
              </a:rPr>
              <a:t>각 조직이 처한 보안 위협의 특성</a:t>
            </a:r>
            <a:r>
              <a:rPr lang="en-US" altLang="ko-KR" sz="25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2500" dirty="0">
                <a:effectLst/>
                <a:latin typeface="+mn-ea"/>
                <a:cs typeface="Times New Roman" panose="02020603050405020304" pitchFamily="18" charset="0"/>
              </a:rPr>
              <a:t>업무 환경</a:t>
            </a:r>
            <a:r>
              <a:rPr lang="en-US" altLang="ko-KR" sz="25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2500" dirty="0">
                <a:effectLst/>
                <a:latin typeface="+mn-ea"/>
                <a:cs typeface="Times New Roman" panose="02020603050405020304" pitchFamily="18" charset="0"/>
              </a:rPr>
              <a:t>법적</a:t>
            </a:r>
            <a:r>
              <a:rPr lang="en-US" altLang="ko-KR" sz="2500" dirty="0">
                <a:effectLst/>
                <a:latin typeface="+mn-ea"/>
                <a:cs typeface="Times New Roman" panose="02020603050405020304" pitchFamily="18" charset="0"/>
              </a:rPr>
              <a:t>·</a:t>
            </a:r>
            <a:r>
              <a:rPr lang="ko-KR" altLang="ko-KR" sz="2500" dirty="0">
                <a:effectLst/>
                <a:latin typeface="+mn-ea"/>
                <a:cs typeface="Times New Roman" panose="02020603050405020304" pitchFamily="18" charset="0"/>
              </a:rPr>
              <a:t>제도적 규제 수준 등을 충분히 반영하지 못하고</a:t>
            </a:r>
            <a:r>
              <a:rPr lang="en-US" altLang="ko-KR" sz="2500" dirty="0">
                <a:effectLst/>
                <a:latin typeface="+mn-ea"/>
                <a:cs typeface="Times New Roman" panose="02020603050405020304" pitchFamily="18" charset="0"/>
              </a:rPr>
              <a:t>,</a:t>
            </a:r>
          </a:p>
          <a:p>
            <a:r>
              <a:rPr lang="ko-KR" altLang="ko-KR" sz="2500" dirty="0" err="1">
                <a:effectLst/>
                <a:latin typeface="+mn-ea"/>
                <a:cs typeface="Times New Roman" panose="02020603050405020304" pitchFamily="18" charset="0"/>
              </a:rPr>
              <a:t>제로트러스트의</a:t>
            </a:r>
            <a:r>
              <a:rPr lang="ko-KR" altLang="ko-KR" sz="2500" dirty="0"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2500" b="1" dirty="0">
                <a:effectLst/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유연성과 확장 가능성을 </a:t>
            </a:r>
            <a:r>
              <a:rPr lang="ko-KR" altLang="ko-KR" sz="2500" dirty="0">
                <a:effectLst/>
                <a:latin typeface="+mn-ea"/>
                <a:cs typeface="Times New Roman" panose="02020603050405020304" pitchFamily="18" charset="0"/>
              </a:rPr>
              <a:t>저해하는 결과를 초래</a:t>
            </a:r>
            <a:endParaRPr lang="ko-KR" altLang="en-US" sz="2500" dirty="0">
              <a:latin typeface="+mn-ea"/>
            </a:endParaRPr>
          </a:p>
        </p:txBody>
      </p:sp>
      <p:pic>
        <p:nvPicPr>
          <p:cNvPr id="8" name="그래픽 7" descr="뒤로 단색으로 채워진">
            <a:extLst>
              <a:ext uri="{FF2B5EF4-FFF2-40B4-BE49-F238E27FC236}">
                <a16:creationId xmlns:a16="http://schemas.microsoft.com/office/drawing/2014/main" id="{F87EBEDB-D2FA-9E0D-4CAB-9CA3FE51A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237144">
            <a:off x="1110288" y="3588736"/>
            <a:ext cx="2222887" cy="222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20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17D1-AB4F-667B-B36D-96D4EB82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4522E-B813-F1EC-7FF1-6C4894B1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6"/>
            <a:ext cx="10058400" cy="1371600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해결방법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22752C99-52D5-743E-9BF3-985CA4FE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181" y="6117304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0FB5864-E7BE-84C5-C9F1-B589DF9F8C76}"/>
              </a:ext>
            </a:extLst>
          </p:cNvPr>
          <p:cNvSpPr/>
          <p:nvPr/>
        </p:nvSpPr>
        <p:spPr>
          <a:xfrm>
            <a:off x="1495653" y="2074578"/>
            <a:ext cx="30480" cy="2877503"/>
          </a:xfrm>
          <a:prstGeom prst="roundRect">
            <a:avLst>
              <a:gd name="adj" fmla="val 669768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98E3C4-ADB6-F75C-9681-F63EE58A5CBD}"/>
              </a:ext>
            </a:extLst>
          </p:cNvPr>
          <p:cNvSpPr/>
          <p:nvPr/>
        </p:nvSpPr>
        <p:spPr>
          <a:xfrm>
            <a:off x="1720324" y="2569640"/>
            <a:ext cx="680442" cy="30480"/>
          </a:xfrm>
          <a:prstGeom prst="roundRect">
            <a:avLst>
              <a:gd name="adj" fmla="val 669768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F824E44-FA1A-8E16-1B0A-C2981EF264CC}"/>
              </a:ext>
            </a:extLst>
          </p:cNvPr>
          <p:cNvSpPr/>
          <p:nvPr/>
        </p:nvSpPr>
        <p:spPr>
          <a:xfrm>
            <a:off x="1240502" y="2329729"/>
            <a:ext cx="510302" cy="510302"/>
          </a:xfrm>
          <a:prstGeom prst="roundRect">
            <a:avLst>
              <a:gd name="adj" fmla="val 40005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7EF3285-F99B-4BA2-1EEF-784F820E4B14}"/>
              </a:ext>
            </a:extLst>
          </p:cNvPr>
          <p:cNvSpPr/>
          <p:nvPr/>
        </p:nvSpPr>
        <p:spPr>
          <a:xfrm>
            <a:off x="1325572" y="2423988"/>
            <a:ext cx="315970" cy="2787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맑은 고딕" panose="020B0503020000020004" pitchFamily="50" charset="-127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BF0BE89-3B02-880C-8DD7-524EB5C3B139}"/>
              </a:ext>
            </a:extLst>
          </p:cNvPr>
          <p:cNvSpPr/>
          <p:nvPr/>
        </p:nvSpPr>
        <p:spPr>
          <a:xfrm>
            <a:off x="1641542" y="4245690"/>
            <a:ext cx="680442" cy="30480"/>
          </a:xfrm>
          <a:prstGeom prst="roundRect">
            <a:avLst>
              <a:gd name="adj" fmla="val 669768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246B8A1-87B1-E3B9-90D1-0A1881E55A2E}"/>
              </a:ext>
            </a:extLst>
          </p:cNvPr>
          <p:cNvSpPr/>
          <p:nvPr/>
        </p:nvSpPr>
        <p:spPr>
          <a:xfrm>
            <a:off x="1240502" y="3962352"/>
            <a:ext cx="510302" cy="510302"/>
          </a:xfrm>
          <a:prstGeom prst="roundRect">
            <a:avLst>
              <a:gd name="adj" fmla="val 40005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9A53B68-DF38-CC6D-0784-917A80EE8100}"/>
              </a:ext>
            </a:extLst>
          </p:cNvPr>
          <p:cNvSpPr/>
          <p:nvPr/>
        </p:nvSpPr>
        <p:spPr>
          <a:xfrm>
            <a:off x="1340812" y="4062810"/>
            <a:ext cx="324922" cy="3657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맑은 고딕" panose="020B0503020000020004" pitchFamily="50" charset="-127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4D71AF-43B2-ADA0-F560-7FCD18E98B94}"/>
              </a:ext>
            </a:extLst>
          </p:cNvPr>
          <p:cNvSpPr txBox="1"/>
          <p:nvPr/>
        </p:nvSpPr>
        <p:spPr>
          <a:xfrm>
            <a:off x="2450963" y="3955149"/>
            <a:ext cx="82453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 err="1"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제로트러스트의</a:t>
            </a:r>
            <a:r>
              <a:rPr lang="en-US" altLang="ko-KR" sz="2000" dirty="0"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운영방식에 대한  교육</a:t>
            </a:r>
            <a:endParaRPr lang="en-US" altLang="ko-KR" sz="20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기존 기술과 상호 배타적이라고 판단하는 사례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방지</a:t>
            </a:r>
            <a:endParaRPr lang="en-US" altLang="ko-KR" sz="20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20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구현을 위해서는</a:t>
            </a:r>
            <a:r>
              <a:rPr lang="en-US" altLang="ko-KR" sz="2000" dirty="0"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사용자 인증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기기 보안 상태 평가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애플리케이션 접근 제어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세션별 권한 조정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가시성 확보 등 다양한 기능을 조합해야 </a:t>
            </a:r>
            <a:r>
              <a:rPr lang="ko-KR" altLang="en-US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함을 인지</a:t>
            </a:r>
            <a:endParaRPr lang="en-US" altLang="ko-KR" sz="2000" b="1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D4DD72-3C18-ECCD-4E43-CF6A8E712504}"/>
              </a:ext>
            </a:extLst>
          </p:cNvPr>
          <p:cNvSpPr txBox="1"/>
          <p:nvPr/>
        </p:nvSpPr>
        <p:spPr>
          <a:xfrm>
            <a:off x="2594631" y="2408548"/>
            <a:ext cx="88710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제로트러스트는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단일 제품이나 특정 기술만으로 구현되는 구조가 아니며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20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일률적인 구조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 아닌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‘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조직 맞춤형 보안 체계</a:t>
            </a:r>
            <a:r>
              <a:rPr lang="en-US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구현</a:t>
            </a:r>
            <a:r>
              <a:rPr lang="ko-KR" altLang="en-US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되어야 하는</a:t>
            </a:r>
            <a:endParaRPr lang="en-US" altLang="ko-KR" sz="20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운영 모델임을 이해</a:t>
            </a:r>
            <a:endParaRPr lang="en-US" altLang="ko-KR" sz="2000" b="1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305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7CEA-0A41-0935-6D76-903D35F1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58C02-EB8D-6A8F-E58B-0CD0D892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5"/>
            <a:ext cx="10058400" cy="1724199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 err="1"/>
              <a:t>제로트러스트의</a:t>
            </a:r>
            <a:r>
              <a:rPr lang="ko-KR" altLang="en-US" b="1" dirty="0"/>
              <a:t> 도입에 대한 </a:t>
            </a:r>
            <a:br>
              <a:rPr lang="en-US" altLang="ko-KR" b="1" dirty="0"/>
            </a:br>
            <a:r>
              <a:rPr lang="ko-KR" altLang="en-US" b="1" dirty="0"/>
              <a:t>법적 근거 미비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D90D010B-81E9-EA66-02C4-AF5D1633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4206DC0-B1AE-B27F-0E03-AB064C2FE29A}"/>
              </a:ext>
            </a:extLst>
          </p:cNvPr>
          <p:cNvGrpSpPr/>
          <p:nvPr/>
        </p:nvGrpSpPr>
        <p:grpSpPr>
          <a:xfrm>
            <a:off x="703978" y="2020829"/>
            <a:ext cx="10829522" cy="3042202"/>
            <a:chOff x="5461366" y="1978202"/>
            <a:chExt cx="5896512" cy="214002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D523BB-2DC3-08EE-FA91-FBC319B575FF}"/>
                </a:ext>
              </a:extLst>
            </p:cNvPr>
            <p:cNvSpPr txBox="1"/>
            <p:nvPr/>
          </p:nvSpPr>
          <p:spPr>
            <a:xfrm>
              <a:off x="5891875" y="2566192"/>
              <a:ext cx="5466003" cy="779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200" dirty="0"/>
                <a:t>현재는 정부 차원에서 가이드 라인만 발표된 상태</a:t>
              </a:r>
              <a:endParaRPr lang="en-US" altLang="ko-KR" sz="2200" dirty="0"/>
            </a:p>
            <a:p>
              <a:pPr marL="285750" indent="-285750">
                <a:buFont typeface="Wingdings" panose="05000000000000000000" pitchFamily="2" charset="2"/>
                <a:buChar char="è"/>
              </a:pPr>
              <a:r>
                <a:rPr lang="ko-KR" altLang="en-US" sz="2200" dirty="0"/>
                <a:t>관련 법령에 구체적인 의무사항이나 적용기준 명시 </a:t>
              </a:r>
              <a:r>
                <a:rPr lang="en-US" altLang="ko-KR" sz="2200" dirty="0"/>
                <a:t>X</a:t>
              </a:r>
            </a:p>
            <a:p>
              <a:endParaRPr lang="en-US" altLang="ko-KR" sz="2200" dirty="0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6692EB6C-4E54-4BC4-34C7-1442E4C3519F}"/>
                </a:ext>
              </a:extLst>
            </p:cNvPr>
            <p:cNvGrpSpPr/>
            <p:nvPr/>
          </p:nvGrpSpPr>
          <p:grpSpPr>
            <a:xfrm>
              <a:off x="5461366" y="1978202"/>
              <a:ext cx="5466002" cy="2140024"/>
              <a:chOff x="5910620" y="1978202"/>
              <a:chExt cx="5466002" cy="2140024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C36F0D8-32A6-98A8-2657-6F71B6357022}"/>
                  </a:ext>
                </a:extLst>
              </p:cNvPr>
              <p:cNvGrpSpPr/>
              <p:nvPr/>
            </p:nvGrpSpPr>
            <p:grpSpPr>
              <a:xfrm>
                <a:off x="5910620" y="1978202"/>
                <a:ext cx="5466002" cy="528750"/>
                <a:chOff x="5910620" y="1978202"/>
                <a:chExt cx="4707380" cy="345820"/>
              </a:xfrm>
            </p:grpSpPr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399E4DF3-80A0-D861-0BB5-E08914391ACB}"/>
                    </a:ext>
                  </a:extLst>
                </p:cNvPr>
                <p:cNvGrpSpPr/>
                <p:nvPr/>
              </p:nvGrpSpPr>
              <p:grpSpPr>
                <a:xfrm>
                  <a:off x="5910620" y="1978202"/>
                  <a:ext cx="370759" cy="345820"/>
                  <a:chOff x="5848872" y="2005681"/>
                  <a:chExt cx="370672" cy="365760"/>
                </a:xfrm>
              </p:grpSpPr>
              <p:sp>
                <p:nvSpPr>
                  <p:cNvPr id="4" name="Shape 1">
                    <a:extLst>
                      <a:ext uri="{FF2B5EF4-FFF2-40B4-BE49-F238E27FC236}">
                        <a16:creationId xmlns:a16="http://schemas.microsoft.com/office/drawing/2014/main" id="{8B1294A6-69FD-DB10-CCEC-EDE37E678180}"/>
                      </a:ext>
                    </a:extLst>
                  </p:cNvPr>
                  <p:cNvSpPr/>
                  <p:nvPr/>
                </p:nvSpPr>
                <p:spPr>
                  <a:xfrm>
                    <a:off x="5848872" y="2005681"/>
                    <a:ext cx="370672" cy="365760"/>
                  </a:xfrm>
                  <a:prstGeom prst="roundRect">
                    <a:avLst>
                      <a:gd name="adj" fmla="val 40005"/>
                    </a:avLst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/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pic>
                <p:nvPicPr>
                  <p:cNvPr id="5" name="Image 0" descr="preencoded.png">
                    <a:extLst>
                      <a:ext uri="{FF2B5EF4-FFF2-40B4-BE49-F238E27FC236}">
                        <a16:creationId xmlns:a16="http://schemas.microsoft.com/office/drawing/2014/main" id="{14B2B856-DC2F-11DE-D638-0CC2A325A1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5910708" y="2036147"/>
                    <a:ext cx="247086" cy="30482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" name="그룹 6">
                  <a:extLst>
                    <a:ext uri="{FF2B5EF4-FFF2-40B4-BE49-F238E27FC236}">
                      <a16:creationId xmlns:a16="http://schemas.microsoft.com/office/drawing/2014/main" id="{AFCEC9D1-FEE9-71DF-2EB9-114F1C68712D}"/>
                    </a:ext>
                  </a:extLst>
                </p:cNvPr>
                <p:cNvGrpSpPr/>
                <p:nvPr/>
              </p:nvGrpSpPr>
              <p:grpSpPr>
                <a:xfrm>
                  <a:off x="6281380" y="1998142"/>
                  <a:ext cx="4336620" cy="325880"/>
                  <a:chOff x="3555408" y="236815"/>
                  <a:chExt cx="2947582" cy="956587"/>
                </a:xfrm>
              </p:grpSpPr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17F6C790-9E44-6C25-006B-57831E83E2BB}"/>
                      </a:ext>
                    </a:extLst>
                  </p:cNvPr>
                  <p:cNvSpPr/>
                  <p:nvPr/>
                </p:nvSpPr>
                <p:spPr>
                  <a:xfrm>
                    <a:off x="3555408" y="236815"/>
                    <a:ext cx="2947582" cy="956587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2B9099D-A83A-1B92-C5F0-1A8714959E83}"/>
                      </a:ext>
                    </a:extLst>
                  </p:cNvPr>
                  <p:cNvSpPr txBox="1"/>
                  <p:nvPr/>
                </p:nvSpPr>
                <p:spPr>
                  <a:xfrm>
                    <a:off x="3555408" y="236815"/>
                    <a:ext cx="2947582" cy="956587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14300" tIns="114300" rIns="114300" bIns="114300" numCol="1" spcCol="1270" rtlCol="0" anchor="ctr" anchorCtr="0">
                    <a:noAutofit/>
                  </a:bodyPr>
                  <a:lstStyle/>
                  <a:p>
                    <a:pPr marL="0" lvl="0" indent="0" algn="l" defTabSz="5334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ko-KR" altLang="en-US" sz="2800" dirty="0" err="1">
                        <a:latin typeface="+mn-ea"/>
                      </a:rPr>
                      <a:t>제로트러스트</a:t>
                    </a:r>
                    <a:r>
                      <a:rPr lang="ko-KR" altLang="en-US" sz="2800" dirty="0">
                        <a:latin typeface="+mn-ea"/>
                      </a:rPr>
                      <a:t> 확산을 위해선 법률적 근거 반드시 필요</a:t>
                    </a:r>
                    <a:endParaRPr lang="ko-KR" altLang="en-US" sz="2800" kern="1200" noProof="0" dirty="0">
                      <a:latin typeface="+mn-ea"/>
                    </a:endParaRPr>
                  </a:p>
                </p:txBody>
              </p:sp>
            </p:grpSp>
          </p:grp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6353B8ED-087F-52BE-39AB-73379AA28300}"/>
                  </a:ext>
                </a:extLst>
              </p:cNvPr>
              <p:cNvSpPr/>
              <p:nvPr/>
            </p:nvSpPr>
            <p:spPr>
              <a:xfrm>
                <a:off x="6334196" y="3619964"/>
                <a:ext cx="5035492" cy="498262"/>
              </a:xfrm>
              <a:prstGeom prst="rect">
                <a:avLst/>
              </a:prstGeom>
            </p:spPr>
            <p:style>
              <a:lnRef idx="2">
                <a:schemeClr val="accent5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9949E1A-57DA-F0F6-A605-BC56C269017A}"/>
              </a:ext>
            </a:extLst>
          </p:cNvPr>
          <p:cNvSpPr/>
          <p:nvPr/>
        </p:nvSpPr>
        <p:spPr>
          <a:xfrm>
            <a:off x="1751582" y="4006906"/>
            <a:ext cx="1247984" cy="1107996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5E680-822B-37B9-0AC7-EFC37082DAD7}"/>
              </a:ext>
            </a:extLst>
          </p:cNvPr>
          <p:cNvSpPr txBox="1"/>
          <p:nvPr/>
        </p:nvSpPr>
        <p:spPr>
          <a:xfrm>
            <a:off x="2960824" y="4151875"/>
            <a:ext cx="60933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제도적 불확실성</a:t>
            </a:r>
            <a:endParaRPr lang="en-US" altLang="ko-KR" sz="24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ko-KR" sz="2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공공 및 민간 부문에서 </a:t>
            </a:r>
            <a:r>
              <a:rPr lang="ko-KR" altLang="ko-KR" sz="24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2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기술의</a:t>
            </a:r>
            <a:r>
              <a:rPr lang="en-US" altLang="ko-KR" sz="2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실질적 도입에 어려움</a:t>
            </a:r>
            <a:r>
              <a:rPr lang="en-US" altLang="ko-KR" sz="2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초래</a:t>
            </a:r>
            <a:endParaRPr lang="en-US" altLang="ko-KR" sz="24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22076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4990-A24D-0D91-0C90-1B36A594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82EB3-3700-F67A-82A9-FBC663F9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6"/>
            <a:ext cx="10058400" cy="1371600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해결방법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FDE47FC5-C956-231D-2B56-D855348E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graphicFrame>
        <p:nvGraphicFramePr>
          <p:cNvPr id="12" name="다이어그램 11">
            <a:extLst>
              <a:ext uri="{FF2B5EF4-FFF2-40B4-BE49-F238E27FC236}">
                <a16:creationId xmlns:a16="http://schemas.microsoft.com/office/drawing/2014/main" id="{7FE9AE3F-276F-A3F3-F173-DEED4EDAD337}"/>
              </a:ext>
            </a:extLst>
          </p:cNvPr>
          <p:cNvGraphicFramePr/>
          <p:nvPr/>
        </p:nvGraphicFramePr>
        <p:xfrm>
          <a:off x="589935" y="1612490"/>
          <a:ext cx="10972800" cy="4220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94385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5A79-F879-D09D-D9A6-9D1EF386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1FB1A-6E2B-FC0C-2C4A-2310585D5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5"/>
            <a:ext cx="10058400" cy="1724199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 err="1"/>
              <a:t>제로트러스트</a:t>
            </a:r>
            <a:r>
              <a:rPr lang="en-US" altLang="ko-KR" b="1" dirty="0"/>
              <a:t> </a:t>
            </a:r>
            <a:r>
              <a:rPr lang="ko-KR" altLang="en-US" b="1" dirty="0"/>
              <a:t>도입의 어려움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2F6B8F6-2AF0-2E4C-87FC-476F5A5D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38419AF-F480-772A-FD83-E576EA363068}"/>
              </a:ext>
            </a:extLst>
          </p:cNvPr>
          <p:cNvGrpSpPr/>
          <p:nvPr/>
        </p:nvGrpSpPr>
        <p:grpSpPr>
          <a:xfrm>
            <a:off x="703978" y="2016538"/>
            <a:ext cx="10829522" cy="3046494"/>
            <a:chOff x="5461366" y="1975183"/>
            <a:chExt cx="5896512" cy="214304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57BE7A-B067-0A2C-47E9-ED29C02E3E00}"/>
                </a:ext>
              </a:extLst>
            </p:cNvPr>
            <p:cNvSpPr txBox="1"/>
            <p:nvPr/>
          </p:nvSpPr>
          <p:spPr>
            <a:xfrm>
              <a:off x="5891875" y="2711343"/>
              <a:ext cx="5466003" cy="844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/>
                <a:t>많은 시간과 예산 소요</a:t>
              </a:r>
              <a:endParaRPr lang="en-US" altLang="ko-KR" sz="2400" dirty="0"/>
            </a:p>
            <a:p>
              <a:pPr marL="285750" indent="-285750">
                <a:buFont typeface="Wingdings" panose="05000000000000000000" pitchFamily="2" charset="2"/>
                <a:buChar char="è"/>
              </a:pPr>
              <a:r>
                <a:rPr lang="ko-KR" altLang="en-US" sz="2400" dirty="0"/>
                <a:t>중소기업의 경우 재정적</a:t>
              </a:r>
              <a:r>
                <a:rPr lang="en-US" altLang="ko-KR" sz="2400" dirty="0"/>
                <a:t>/</a:t>
              </a:r>
              <a:r>
                <a:rPr lang="ko-KR" altLang="en-US" sz="2400" dirty="0"/>
                <a:t>기술적 기반 </a:t>
              </a:r>
              <a:r>
                <a:rPr lang="en-US" altLang="ko-KR" sz="2400" dirty="0"/>
                <a:t>X</a:t>
              </a:r>
            </a:p>
            <a:p>
              <a:endParaRPr lang="en-US" altLang="ko-KR" sz="2400" dirty="0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E5C6ECD-0C4D-2743-E527-DE598CF6F5BE}"/>
                </a:ext>
              </a:extLst>
            </p:cNvPr>
            <p:cNvGrpSpPr/>
            <p:nvPr/>
          </p:nvGrpSpPr>
          <p:grpSpPr>
            <a:xfrm>
              <a:off x="5461366" y="1975183"/>
              <a:ext cx="5626016" cy="2143043"/>
              <a:chOff x="5910620" y="1975183"/>
              <a:chExt cx="5626016" cy="2143043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7F848F0A-28C7-B537-5148-0E104211833B}"/>
                  </a:ext>
                </a:extLst>
              </p:cNvPr>
              <p:cNvGrpSpPr/>
              <p:nvPr/>
            </p:nvGrpSpPr>
            <p:grpSpPr>
              <a:xfrm>
                <a:off x="5910620" y="1975183"/>
                <a:ext cx="5626016" cy="531768"/>
                <a:chOff x="5910620" y="1976228"/>
                <a:chExt cx="4845186" cy="347794"/>
              </a:xfrm>
            </p:grpSpPr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304576B3-2904-8C5A-C68D-0FBC0E1D3E60}"/>
                    </a:ext>
                  </a:extLst>
                </p:cNvPr>
                <p:cNvGrpSpPr/>
                <p:nvPr/>
              </p:nvGrpSpPr>
              <p:grpSpPr>
                <a:xfrm>
                  <a:off x="5910620" y="1978202"/>
                  <a:ext cx="370759" cy="345820"/>
                  <a:chOff x="5848872" y="2005681"/>
                  <a:chExt cx="370672" cy="365760"/>
                </a:xfrm>
              </p:grpSpPr>
              <p:sp>
                <p:nvSpPr>
                  <p:cNvPr id="4" name="Shape 1">
                    <a:extLst>
                      <a:ext uri="{FF2B5EF4-FFF2-40B4-BE49-F238E27FC236}">
                        <a16:creationId xmlns:a16="http://schemas.microsoft.com/office/drawing/2014/main" id="{2F41AC19-0582-B4DF-CB6E-8A8A6E5D123F}"/>
                      </a:ext>
                    </a:extLst>
                  </p:cNvPr>
                  <p:cNvSpPr/>
                  <p:nvPr/>
                </p:nvSpPr>
                <p:spPr>
                  <a:xfrm>
                    <a:off x="5848872" y="2005681"/>
                    <a:ext cx="370672" cy="365760"/>
                  </a:xfrm>
                  <a:prstGeom prst="roundRect">
                    <a:avLst>
                      <a:gd name="adj" fmla="val 40005"/>
                    </a:avLst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/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pic>
                <p:nvPicPr>
                  <p:cNvPr id="5" name="Image 0" descr="preencoded.png">
                    <a:extLst>
                      <a:ext uri="{FF2B5EF4-FFF2-40B4-BE49-F238E27FC236}">
                        <a16:creationId xmlns:a16="http://schemas.microsoft.com/office/drawing/2014/main" id="{EACC0719-DA24-D276-5E9A-DE96EF0A2C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5910708" y="2036147"/>
                    <a:ext cx="247086" cy="30482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" name="그룹 6">
                  <a:extLst>
                    <a:ext uri="{FF2B5EF4-FFF2-40B4-BE49-F238E27FC236}">
                      <a16:creationId xmlns:a16="http://schemas.microsoft.com/office/drawing/2014/main" id="{2EB1D7C4-139C-DA16-6C61-614B5835029E}"/>
                    </a:ext>
                  </a:extLst>
                </p:cNvPr>
                <p:cNvGrpSpPr/>
                <p:nvPr/>
              </p:nvGrpSpPr>
              <p:grpSpPr>
                <a:xfrm>
                  <a:off x="6260055" y="1976228"/>
                  <a:ext cx="4495751" cy="347794"/>
                  <a:chOff x="3540914" y="172488"/>
                  <a:chExt cx="3055743" cy="1020914"/>
                </a:xfrm>
              </p:grpSpPr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C14C6835-3FFF-BFE7-2A6D-DB5696C73991}"/>
                      </a:ext>
                    </a:extLst>
                  </p:cNvPr>
                  <p:cNvSpPr/>
                  <p:nvPr/>
                </p:nvSpPr>
                <p:spPr>
                  <a:xfrm>
                    <a:off x="3540914" y="172488"/>
                    <a:ext cx="2947582" cy="956587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5">
                      <a:alpha val="90000"/>
                      <a:tint val="4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D7BBF6CC-12E6-8EA5-2B6D-154C445F7776}"/>
                      </a:ext>
                    </a:extLst>
                  </p:cNvPr>
                  <p:cNvSpPr txBox="1"/>
                  <p:nvPr/>
                </p:nvSpPr>
                <p:spPr>
                  <a:xfrm>
                    <a:off x="3555408" y="236815"/>
                    <a:ext cx="3041249" cy="956587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114300" tIns="114300" rIns="114300" bIns="114300" numCol="1" spcCol="1270" rtlCol="0" anchor="ctr" anchorCtr="0">
                    <a:noAutofit/>
                  </a:bodyPr>
                  <a:lstStyle/>
                  <a:p>
                    <a:pPr marL="0" lvl="0" indent="0" algn="l" defTabSz="5334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ko-KR" altLang="en-US" sz="2800" dirty="0" err="1">
                        <a:latin typeface="+mn-ea"/>
                      </a:rPr>
                      <a:t>제로트러스트</a:t>
                    </a:r>
                    <a:r>
                      <a:rPr lang="ko-KR" altLang="en-US" sz="2800" dirty="0">
                        <a:latin typeface="+mn-ea"/>
                      </a:rPr>
                      <a:t> 도입</a:t>
                    </a:r>
                    <a:r>
                      <a:rPr lang="en-US" altLang="ko-KR" sz="2800" dirty="0">
                        <a:latin typeface="+mn-ea"/>
                      </a:rPr>
                      <a:t>: </a:t>
                    </a:r>
                    <a:r>
                      <a:rPr lang="ko-KR" altLang="en-US" sz="2800" dirty="0">
                        <a:latin typeface="+mn-ea"/>
                      </a:rPr>
                      <a:t>전반적인 보안 운영 환경의 변화 수반</a:t>
                    </a:r>
                    <a:endParaRPr lang="ko-KR" altLang="en-US" sz="2800" kern="1200" noProof="0" dirty="0">
                      <a:latin typeface="+mn-ea"/>
                    </a:endParaRPr>
                  </a:p>
                </p:txBody>
              </p:sp>
            </p:grpSp>
          </p:grp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50287AE7-C528-31D5-0526-FD22CED4C7A1}"/>
                  </a:ext>
                </a:extLst>
              </p:cNvPr>
              <p:cNvSpPr/>
              <p:nvPr/>
            </p:nvSpPr>
            <p:spPr>
              <a:xfrm>
                <a:off x="6334196" y="3619964"/>
                <a:ext cx="5035492" cy="498262"/>
              </a:xfrm>
              <a:prstGeom prst="rect">
                <a:avLst/>
              </a:prstGeom>
            </p:spPr>
            <p:style>
              <a:lnRef idx="2">
                <a:schemeClr val="accent5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31273F7-4552-C124-1474-E5B5EBEF1A95}"/>
              </a:ext>
            </a:extLst>
          </p:cNvPr>
          <p:cNvSpPr/>
          <p:nvPr/>
        </p:nvSpPr>
        <p:spPr>
          <a:xfrm>
            <a:off x="1362933" y="4354715"/>
            <a:ext cx="1247984" cy="1107996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B4FAD-DC78-B096-5CFD-DE0B5DF07B8A}"/>
              </a:ext>
            </a:extLst>
          </p:cNvPr>
          <p:cNvSpPr txBox="1"/>
          <p:nvPr/>
        </p:nvSpPr>
        <p:spPr>
          <a:xfrm>
            <a:off x="2746230" y="4354715"/>
            <a:ext cx="85726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 err="1"/>
              <a:t>제로트러스트</a:t>
            </a:r>
            <a:r>
              <a:rPr lang="ko-KR" altLang="en-US" sz="3200" b="1" dirty="0"/>
              <a:t> 도입을 위한 재정적</a:t>
            </a:r>
            <a:r>
              <a:rPr lang="en-US" altLang="ko-KR" sz="3200" b="1" dirty="0"/>
              <a:t>/ </a:t>
            </a:r>
            <a:r>
              <a:rPr lang="ko-KR" altLang="en-US" sz="3200" b="1" dirty="0"/>
              <a:t>제도적 장치 마련 </a:t>
            </a:r>
            <a:r>
              <a:rPr lang="en-US" altLang="ko-KR" sz="3200" b="1" dirty="0"/>
              <a:t>X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27340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EB29-5DF8-06D5-C65B-DB752355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F417A-91E3-97FC-C4B5-67A86A8B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7480"/>
            <a:ext cx="10058400" cy="1724199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해결방법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2C50B55B-FFCF-5C3C-1937-6708C4EF3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243" y="6035040"/>
            <a:ext cx="5816600" cy="365760"/>
          </a:xfrm>
        </p:spPr>
        <p:txBody>
          <a:bodyPr/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ko-KR" sz="1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제로트러스트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가이드라인</a:t>
            </a:r>
            <a:r>
              <a:rPr lang="en-US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2.0</a:t>
            </a:r>
          </a:p>
          <a:p>
            <a:r>
              <a:rPr lang="ko-KR" altLang="en-US" sz="1100" dirty="0"/>
              <a:t>       </a:t>
            </a:r>
            <a:r>
              <a:rPr lang="ko-KR" altLang="ko-KR" sz="1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국회입법조사처 연구보고서</a:t>
            </a:r>
            <a:endParaRPr lang="ko-KR" altLang="en-US" sz="1100" dirty="0"/>
          </a:p>
        </p:txBody>
      </p:sp>
      <p:graphicFrame>
        <p:nvGraphicFramePr>
          <p:cNvPr id="32" name="다이어그램 31">
            <a:extLst>
              <a:ext uri="{FF2B5EF4-FFF2-40B4-BE49-F238E27FC236}">
                <a16:creationId xmlns:a16="http://schemas.microsoft.com/office/drawing/2014/main" id="{65368581-F91E-9CC1-E6FF-EB44D9A82290}"/>
              </a:ext>
            </a:extLst>
          </p:cNvPr>
          <p:cNvGraphicFramePr/>
          <p:nvPr/>
        </p:nvGraphicFramePr>
        <p:xfrm>
          <a:off x="691243" y="1710813"/>
          <a:ext cx="11018976" cy="395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21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A1D3-9310-8BCC-C2BF-67E324F7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964C1-B76F-3801-E4DA-24FDE6BFD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5"/>
            <a:ext cx="10058400" cy="1822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결론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ED33153-668A-8F77-B113-EB3D164EA96D}"/>
              </a:ext>
            </a:extLst>
          </p:cNvPr>
          <p:cNvGrpSpPr/>
          <p:nvPr/>
        </p:nvGrpSpPr>
        <p:grpSpPr>
          <a:xfrm>
            <a:off x="1155290" y="2269666"/>
            <a:ext cx="9403940" cy="4416594"/>
            <a:chOff x="978310" y="2416099"/>
            <a:chExt cx="9403940" cy="44165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94E49A-6E34-565A-A16B-0BACCFB2714B}"/>
                </a:ext>
              </a:extLst>
            </p:cNvPr>
            <p:cNvSpPr txBox="1"/>
            <p:nvPr/>
          </p:nvSpPr>
          <p:spPr>
            <a:xfrm>
              <a:off x="978310" y="2416099"/>
              <a:ext cx="9403940" cy="44165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500" dirty="0" err="1"/>
                <a:t>제로트러스트의</a:t>
              </a:r>
              <a:r>
                <a:rPr lang="ko-KR" altLang="en-US" sz="2500" dirty="0"/>
                <a:t> 필요성</a:t>
              </a:r>
              <a:endParaRPr lang="en-US" altLang="ko-KR" sz="2500" dirty="0"/>
            </a:p>
            <a:p>
              <a:endParaRPr lang="en-US" altLang="ko-KR" sz="2500" dirty="0"/>
            </a:p>
            <a:p>
              <a:r>
                <a:rPr lang="ko-KR" altLang="en-US" sz="2500" dirty="0"/>
                <a:t>기존 보안은 내부를 ‘</a:t>
              </a:r>
              <a:r>
                <a:rPr lang="ko-KR" altLang="en-US" sz="2500" dirty="0" err="1"/>
                <a:t>신뢰’하는</a:t>
              </a:r>
              <a:r>
                <a:rPr lang="ko-KR" altLang="en-US" sz="2500" dirty="0"/>
                <a:t> 구조</a:t>
              </a:r>
              <a:endParaRPr lang="en-US" altLang="ko-KR" sz="2500" dirty="0"/>
            </a:p>
            <a:p>
              <a:endParaRPr lang="en-US" altLang="ko-KR" sz="2500" dirty="0"/>
            </a:p>
            <a:p>
              <a:r>
                <a:rPr lang="ko-KR" altLang="en-US" sz="2500" dirty="0"/>
                <a:t> </a:t>
              </a:r>
              <a:r>
                <a:rPr lang="ko-KR" altLang="en-US" sz="2800" dirty="0"/>
                <a:t>➜ 현대적 위협에 취약</a:t>
              </a:r>
              <a:endParaRPr lang="en-US" altLang="ko-KR" sz="2800" dirty="0"/>
            </a:p>
            <a:p>
              <a:r>
                <a:rPr lang="en-US" altLang="ko-KR" sz="2800" dirty="0"/>
                <a:t>                                   </a:t>
              </a:r>
              <a:r>
                <a:rPr lang="ko-KR" altLang="en-US" sz="2800" dirty="0">
                  <a:highlight>
                    <a:srgbClr val="FFFF00"/>
                  </a:highlight>
                </a:rPr>
                <a:t>한계 발생</a:t>
              </a:r>
              <a:endParaRPr lang="en-US" altLang="ko-KR" sz="2500" dirty="0">
                <a:highlight>
                  <a:srgbClr val="FFFF00"/>
                </a:highlight>
              </a:endParaRPr>
            </a:p>
            <a:p>
              <a:r>
                <a:rPr lang="en-US" altLang="ko-KR" sz="2500" dirty="0"/>
                <a:t>            </a:t>
              </a:r>
            </a:p>
            <a:p>
              <a:r>
                <a:rPr lang="en-US" altLang="ko-KR" sz="2500" dirty="0"/>
                <a:t>           </a:t>
              </a:r>
            </a:p>
            <a:p>
              <a:r>
                <a:rPr lang="en-US" altLang="ko-KR" sz="2500" dirty="0"/>
                <a:t>                </a:t>
              </a:r>
              <a:r>
                <a:rPr lang="ko-KR" altLang="en-US" sz="2500" dirty="0"/>
                <a:t>현대보안의 </a:t>
              </a:r>
              <a:r>
                <a:rPr lang="ko-KR" altLang="en-US" sz="2500" dirty="0">
                  <a:highlight>
                    <a:srgbClr val="FFFF00"/>
                  </a:highlight>
                </a:rPr>
                <a:t>기본 프레임</a:t>
              </a:r>
              <a:endParaRPr lang="en-US" altLang="ko-KR" sz="2500" dirty="0">
                <a:highlight>
                  <a:srgbClr val="FFFF00"/>
                </a:highlight>
              </a:endParaRPr>
            </a:p>
            <a:p>
              <a:endParaRPr lang="en-US" altLang="ko-KR" sz="2500" dirty="0"/>
            </a:p>
            <a:p>
              <a:endParaRPr lang="ko-KR" altLang="en-US" sz="2500" dirty="0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3A07D399-FA0E-BE4D-4FB0-646B13AE06F6}"/>
                </a:ext>
              </a:extLst>
            </p:cNvPr>
            <p:cNvSpPr/>
            <p:nvPr/>
          </p:nvSpPr>
          <p:spPr>
            <a:xfrm>
              <a:off x="978310" y="5505449"/>
              <a:ext cx="1263445" cy="592805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7581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A3B2-9636-90B7-1D75-4FAAC1B6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556F3-167C-FABE-5642-A9C7B310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557815"/>
            <a:ext cx="10058400" cy="1822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결론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34197-356C-7A09-7D51-A1D914728174}"/>
              </a:ext>
            </a:extLst>
          </p:cNvPr>
          <p:cNvSpPr txBox="1"/>
          <p:nvPr/>
        </p:nvSpPr>
        <p:spPr>
          <a:xfrm>
            <a:off x="978310" y="1997690"/>
            <a:ext cx="940394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dirty="0" err="1">
                <a:latin typeface="+mn-ea"/>
              </a:rPr>
              <a:t>제로트러스트의</a:t>
            </a:r>
            <a:r>
              <a:rPr lang="ko-KR" altLang="en-US" sz="2500" dirty="0">
                <a:latin typeface="+mn-ea"/>
              </a:rPr>
              <a:t> </a:t>
            </a:r>
            <a:r>
              <a:rPr lang="ko-KR" altLang="en-US" sz="2500" dirty="0">
                <a:highlight>
                  <a:srgbClr val="FFFF00"/>
                </a:highlight>
                <a:latin typeface="+mn-ea"/>
              </a:rPr>
              <a:t>필요성</a:t>
            </a:r>
            <a:endParaRPr lang="en-US" altLang="ko-KR" sz="2500" dirty="0">
              <a:highlight>
                <a:srgbClr val="FFFF00"/>
              </a:highlight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5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dirty="0">
                <a:latin typeface="+mn-ea"/>
              </a:rPr>
              <a:t>글로벌 기업 도입 가속화</a:t>
            </a:r>
            <a:endParaRPr lang="en-US" altLang="ko-KR" sz="2500" dirty="0">
              <a:latin typeface="+mn-ea"/>
            </a:endParaRPr>
          </a:p>
          <a:p>
            <a:r>
              <a:rPr lang="en-US" altLang="ko-KR" sz="2500" dirty="0">
                <a:latin typeface="+mn-ea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dirty="0">
                <a:latin typeface="+mn-ea"/>
              </a:rPr>
              <a:t>클라우드 보안의 표준 모델로 정착</a:t>
            </a:r>
            <a:endParaRPr lang="en-US" altLang="ko-KR" sz="25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5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500" dirty="0">
                <a:latin typeface="+mn-ea"/>
              </a:rPr>
              <a:t>AI </a:t>
            </a:r>
            <a:r>
              <a:rPr lang="ko-KR" altLang="en-US" sz="2500" dirty="0">
                <a:latin typeface="+mn-ea"/>
              </a:rPr>
              <a:t>행동분석 기술과 결합해 지능형 보안으로 진화</a:t>
            </a:r>
            <a:endParaRPr lang="en-US" altLang="ko-KR" sz="25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5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dirty="0">
                <a:latin typeface="+mn-ea"/>
              </a:rPr>
              <a:t>금융</a:t>
            </a:r>
            <a:r>
              <a:rPr lang="en-US" altLang="ko-KR" sz="2500" dirty="0">
                <a:latin typeface="+mn-ea"/>
              </a:rPr>
              <a:t>, </a:t>
            </a:r>
            <a:r>
              <a:rPr lang="ko-KR" altLang="en-US" sz="2500" dirty="0">
                <a:latin typeface="+mn-ea"/>
              </a:rPr>
              <a:t>의료</a:t>
            </a:r>
            <a:r>
              <a:rPr lang="en-US" altLang="ko-KR" sz="2500" dirty="0">
                <a:latin typeface="+mn-ea"/>
              </a:rPr>
              <a:t>, </a:t>
            </a:r>
            <a:r>
              <a:rPr lang="ko-KR" altLang="en-US" sz="2500" dirty="0">
                <a:latin typeface="+mn-ea"/>
              </a:rPr>
              <a:t>제조업 등 전 산업 확산 기대</a:t>
            </a:r>
            <a:endParaRPr lang="en-US" altLang="ko-KR" sz="25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5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14415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552_TF78757031_Win32" id="{EC50EACF-9AB1-4182-8FD1-821DD1B92E01}" vid="{BD88FA26-6A3F-4B1F-AB81-CAA5F90B4CF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7802517-FD5A-4D6F-9BEF-6B50583B6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FC90C-E938-4D14-B988-1AABB7F8F3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3D0E2C-DCCF-4DCA-8700-60C67A2E1F44}">
  <ds:schemaRefs>
    <ds:schemaRef ds:uri="http://purl.org/dc/terms/"/>
    <ds:schemaRef ds:uri="16c05727-aa75-4e4a-9b5f-8a80a1165891"/>
    <ds:schemaRef ds:uri="http://purl.org/dc/dcmitype/"/>
    <ds:schemaRef ds:uri="http://www.w3.org/XML/1998/namespace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230e9df3-be65-4c73-a93b-d1236ebd677e"/>
    <ds:schemaRef ds:uri="http://schemas.microsoft.com/sharepoint/v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Pages>8</Pages>
  <Words>1405</Words>
  <Characters>0</Characters>
  <Application>Microsoft Office PowerPoint</Application>
  <DocSecurity>0</DocSecurity>
  <PresentationFormat>와이드스크린</PresentationFormat>
  <Lines>0</Lines>
  <Paragraphs>281</Paragraphs>
  <Slides>31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Microsoft GothicNeo</vt:lpstr>
      <vt:lpstr>-webkit-standard</vt:lpstr>
      <vt:lpstr>맑은 고딕</vt:lpstr>
      <vt:lpstr>Arial</vt:lpstr>
      <vt:lpstr>Calibri</vt:lpstr>
      <vt:lpstr>Garamond</vt:lpstr>
      <vt:lpstr>Wingdings</vt:lpstr>
      <vt:lpstr>SavonVTI</vt:lpstr>
      <vt:lpstr> 제로트러스트</vt:lpstr>
      <vt:lpstr>목차</vt:lpstr>
      <vt:lpstr>경계 기반 보안 모델의 등장</vt:lpstr>
      <vt:lpstr>1. 경계 기반 보안 모델의 정의와 한계, 실제 사례</vt:lpstr>
      <vt:lpstr>1. 경계 기반 보안 모델의 정의와 한계, 실제 사례</vt:lpstr>
      <vt:lpstr>1. 경계 기반 보안 모델의 정의와 한계, 실제 사례</vt:lpstr>
      <vt:lpstr>1. 경계 기반 보안 모델의 정의와 한계, 실제 사례</vt:lpstr>
      <vt:lpstr>1. 경계 기반 보안 모델의 정의와 한계, 실제 사례</vt:lpstr>
      <vt:lpstr>제로트러스트 추진 배경</vt:lpstr>
      <vt:lpstr>제로트러스트란?</vt:lpstr>
      <vt:lpstr>경계 기반 보안모델 vs. 제로트러스트</vt:lpstr>
      <vt:lpstr>제로트러스트 구현 핵심원칙</vt:lpstr>
      <vt:lpstr>제로트러스트 아키텍처 보안 모델의 구성</vt:lpstr>
      <vt:lpstr>제로트러스트 아키텍처 보안 모델의 구성</vt:lpstr>
      <vt:lpstr>제로 트러스트 보안 모델 도입 전후 비교</vt:lpstr>
      <vt:lpstr>제로 트러스트 보안 모델 도입 전후 비교</vt:lpstr>
      <vt:lpstr>제로 트러스트 도입시 – 사건 재구성</vt:lpstr>
      <vt:lpstr>COVID – 19 이후 일반화된 원격 근무 환경</vt:lpstr>
      <vt:lpstr>원격 근무 환경에 제로 트러스트 참조 모델</vt:lpstr>
      <vt:lpstr>제로트러스트에 대한 개념적 오해</vt:lpstr>
      <vt:lpstr>해결방법</vt:lpstr>
      <vt:lpstr>제로트러스트의 단일 보안기술  중심 인식</vt:lpstr>
      <vt:lpstr>제로트러스트의 단일 보안기술 중심 인식</vt:lpstr>
      <vt:lpstr>제로트러스트의 단일 보안기술 중심 인식</vt:lpstr>
      <vt:lpstr>해결방법</vt:lpstr>
      <vt:lpstr>제로트러스트의 도입에 대한  법적 근거 미비</vt:lpstr>
      <vt:lpstr>해결방법</vt:lpstr>
      <vt:lpstr>제로트러스트 도입의 어려움</vt:lpstr>
      <vt:lpstr>해결방법</vt:lpstr>
      <vt:lpstr>결론</vt:lpstr>
      <vt:lpstr>결론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예린 마</dc:creator>
  <cp:lastModifiedBy>예린 마</cp:lastModifiedBy>
  <cp:revision>5</cp:revision>
  <dcterms:modified xsi:type="dcterms:W3CDTF">2025-05-29T03:11:18Z</dcterms:modified>
  <cp:version>9.104.123.46490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